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Lst>
  <p:notesMasterIdLst>
    <p:notesMasterId r:id="rId69"/>
  </p:notesMasterIdLst>
  <p:sldIdLst>
    <p:sldId id="323" r:id="rId4"/>
    <p:sldId id="257" r:id="rId5"/>
    <p:sldId id="324" r:id="rId6"/>
    <p:sldId id="259" r:id="rId7"/>
    <p:sldId id="326" r:id="rId8"/>
    <p:sldId id="261" r:id="rId9"/>
    <p:sldId id="327" r:id="rId10"/>
    <p:sldId id="263" r:id="rId11"/>
    <p:sldId id="328" r:id="rId12"/>
    <p:sldId id="265" r:id="rId13"/>
    <p:sldId id="329" r:id="rId14"/>
    <p:sldId id="267" r:id="rId15"/>
    <p:sldId id="268" r:id="rId16"/>
    <p:sldId id="330" r:id="rId17"/>
    <p:sldId id="270" r:id="rId18"/>
    <p:sldId id="331" r:id="rId19"/>
    <p:sldId id="272" r:id="rId20"/>
    <p:sldId id="332" r:id="rId21"/>
    <p:sldId id="274" r:id="rId22"/>
    <p:sldId id="275" r:id="rId23"/>
    <p:sldId id="276" r:id="rId24"/>
    <p:sldId id="277" r:id="rId25"/>
    <p:sldId id="334" r:id="rId26"/>
    <p:sldId id="279" r:id="rId27"/>
    <p:sldId id="280" r:id="rId28"/>
    <p:sldId id="281" r:id="rId29"/>
    <p:sldId id="282" r:id="rId30"/>
    <p:sldId id="335"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36" r:id="rId58"/>
    <p:sldId id="311" r:id="rId59"/>
    <p:sldId id="312" r:id="rId60"/>
    <p:sldId id="316" r:id="rId61"/>
    <p:sldId id="314" r:id="rId62"/>
    <p:sldId id="337" r:id="rId63"/>
    <p:sldId id="318" r:id="rId64"/>
    <p:sldId id="319" r:id="rId65"/>
    <p:sldId id="338" r:id="rId66"/>
    <p:sldId id="321" r:id="rId67"/>
    <p:sldId id="341" r:id="rId68"/>
  </p:sldIdLst>
  <p:sldSz cx="12192000" cy="6858000"/>
  <p:notesSz cx="6858000" cy="9144000"/>
  <p:embeddedFontLst>
    <p:embeddedFont>
      <p:font typeface="Calibri" panose="020F0502020204030204" pitchFamily="34" charset="0"/>
      <p:regular r:id="rId70"/>
      <p:bold r:id="rId71"/>
      <p:italic r:id="rId72"/>
      <p:boldItalic r:id="rId73"/>
    </p:embeddedFont>
    <p:embeddedFont>
      <p:font typeface="Calibri Light" panose="020F0302020204030204" pitchFamily="34" charset="0"/>
      <p:regular r:id="rId74"/>
      <p:italic r:id="rId75"/>
    </p:embeddedFont>
    <p:embeddedFont>
      <p:font typeface="Work Sans" pitchFamily="2" charset="0"/>
      <p:regular r:id="rId76"/>
      <p:bold r:id="rId77"/>
      <p:italic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gvYaW/VylILdCYn46lPty+w2UF7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7C81F0-EF78-42B9-8A88-19DE12DBAE76}">
  <a:tblStyle styleId="{1F7C81F0-EF78-42B9-8A88-19DE12DBAE7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b="off" i="off"/>
      <a:tcStyle>
        <a:tcBdr/>
        <a:fill>
          <a:solidFill>
            <a:srgbClr val="D4E2CE"/>
          </a:solidFill>
        </a:fill>
      </a:tcStyle>
    </a:band1H>
    <a:band2H>
      <a:tcTxStyle b="off" i="off"/>
      <a:tcStyle>
        <a:tcBdr/>
      </a:tcStyle>
    </a:band2H>
    <a:band1V>
      <a:tcTxStyle b="off" i="off"/>
      <a:tcStyle>
        <a:tcBdr/>
        <a:fill>
          <a:solidFill>
            <a:srgbClr val="D4E2CE"/>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b="off" i="off"/>
      <a:tcStyle>
        <a:tcBdr/>
      </a:tcStyle>
    </a:neCell>
    <a:nwCell>
      <a:tcTxStyle b="off" i="off"/>
      <a:tcStyle>
        <a:tcBdr/>
      </a:tcStyle>
    </a:nwCell>
  </a:tblStyle>
  <a:tblStyle styleId="{7BE4FD28-A62C-4A31-9E86-F0C727AD1519}"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76" y="156"/>
      </p:cViewPr>
      <p:guideLst>
        <p:guide orient="horz" pos="595"/>
        <p:guide pos="3840"/>
        <p:guide orient="horz" pos="1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presProps" Target="pres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5.fntdata"/><Relationship Id="rId79" Type="http://schemas.openxmlformats.org/officeDocument/2006/relationships/font" Target="fonts/font10.fntdata"/><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77"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3.fntdata"/><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font" Target="fonts/font1.fntdata"/><Relationship Id="rId75" Type="http://schemas.openxmlformats.org/officeDocument/2006/relationships/font" Target="fonts/font6.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4.fntdata"/><Relationship Id="rId78" Type="http://schemas.openxmlformats.org/officeDocument/2006/relationships/font" Target="fonts/font9.fntdata"/><Relationship Id="rId86"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7.fntdata"/><Relationship Id="rId7" Type="http://schemas.openxmlformats.org/officeDocument/2006/relationships/slide" Target="slides/slide4.xml"/><Relationship Id="rId71" Type="http://schemas.openxmlformats.org/officeDocument/2006/relationships/font" Target="fonts/font2.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8" name="Google Shape;31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55" name="Google Shape;35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CO"/>
              <a:t>27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8" name="Google Shape;37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9" name="Google Shape;39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0" name="Google Shape;42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7" name="Google Shape;42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1" name="Google Shape;44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 name="Google Shape;44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5" name="Google Shape;45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9" name="Google Shape;46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6" name="Google Shape;47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3" name="Google Shape;48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0" name="Google Shape;490;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7" name="Google Shape;49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4" name="Google Shape;50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8" name="Google Shape;518;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5" name="Google Shape;52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2" name="Google Shape;532;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9" name="Google Shape;539;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3" name="Google Shape;55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6" name="Google Shape;566;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3" name="Google Shape;573;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9" name="Google Shape;599;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6" name="Google Shape;586;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2" name="Google Shape;61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9" name="Google Shape;619;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2" name="Google Shape;63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5"/>
        <p:cNvGrpSpPr/>
        <p:nvPr/>
      </p:nvGrpSpPr>
      <p:grpSpPr>
        <a:xfrm>
          <a:off x="0" y="0"/>
          <a:ext cx="0" cy="0"/>
          <a:chOff x="0" y="0"/>
          <a:chExt cx="0" cy="0"/>
        </a:xfrm>
      </p:grpSpPr>
      <p:sp>
        <p:nvSpPr>
          <p:cNvPr id="16" name="Google Shape;16;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9"/>
        <p:cNvGrpSpPr/>
        <p:nvPr/>
      </p:nvGrpSpPr>
      <p:grpSpPr>
        <a:xfrm>
          <a:off x="0" y="0"/>
          <a:ext cx="0" cy="0"/>
          <a:chOff x="0" y="0"/>
          <a:chExt cx="0" cy="0"/>
        </a:xfrm>
      </p:grpSpPr>
      <p:sp>
        <p:nvSpPr>
          <p:cNvPr id="20" name="Google Shape;20;p7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7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1"/>
        <p:cNvGrpSpPr/>
        <p:nvPr/>
      </p:nvGrpSpPr>
      <p:grpSpPr>
        <a:xfrm>
          <a:off x="0" y="0"/>
          <a:ext cx="0" cy="0"/>
          <a:chOff x="0" y="0"/>
          <a:chExt cx="0" cy="0"/>
        </a:xfrm>
      </p:grpSpPr>
      <p:sp>
        <p:nvSpPr>
          <p:cNvPr id="32" name="Google Shape;32;p7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7"/>
        <p:cNvGrpSpPr/>
        <p:nvPr/>
      </p:nvGrpSpPr>
      <p:grpSpPr>
        <a:xfrm>
          <a:off x="0" y="0"/>
          <a:ext cx="0" cy="0"/>
          <a:chOff x="0" y="0"/>
          <a:chExt cx="0" cy="0"/>
        </a:xfrm>
      </p:grpSpPr>
      <p:sp>
        <p:nvSpPr>
          <p:cNvPr id="38" name="Google Shape;38;p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7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4"/>
        <p:cNvGrpSpPr/>
        <p:nvPr/>
      </p:nvGrpSpPr>
      <p:grpSpPr>
        <a:xfrm>
          <a:off x="0" y="0"/>
          <a:ext cx="0" cy="0"/>
          <a:chOff x="0" y="0"/>
          <a:chExt cx="0" cy="0"/>
        </a:xfrm>
      </p:grpSpPr>
      <p:sp>
        <p:nvSpPr>
          <p:cNvPr id="45" name="Google Shape;45;p7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7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7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7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7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7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79"/>
          <p:cNvSpPr>
            <a:spLocks noGrp="1"/>
          </p:cNvSpPr>
          <p:nvPr>
            <p:ph type="pic" idx="2"/>
          </p:nvPr>
        </p:nvSpPr>
        <p:spPr>
          <a:xfrm>
            <a:off x="5183188" y="987425"/>
            <a:ext cx="6172200" cy="4873625"/>
          </a:xfrm>
          <a:prstGeom prst="rect">
            <a:avLst/>
          </a:prstGeom>
          <a:noFill/>
          <a:ln>
            <a:noFill/>
          </a:ln>
        </p:spPr>
      </p:sp>
      <p:sp>
        <p:nvSpPr>
          <p:cNvPr id="68" name="Google Shape;68;p7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8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8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95"/>
        <p:cNvGrpSpPr/>
        <p:nvPr/>
      </p:nvGrpSpPr>
      <p:grpSpPr>
        <a:xfrm>
          <a:off x="0" y="0"/>
          <a:ext cx="0" cy="0"/>
          <a:chOff x="0" y="0"/>
          <a:chExt cx="0" cy="0"/>
        </a:xfrm>
      </p:grpSpPr>
      <p:sp>
        <p:nvSpPr>
          <p:cNvPr id="96" name="Google Shape;96;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97" name="Google Shape;97;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98" name="Google Shape;98;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9"/>
        <p:cNvGrpSpPr/>
        <p:nvPr/>
      </p:nvGrpSpPr>
      <p:grpSpPr>
        <a:xfrm>
          <a:off x="0" y="0"/>
          <a:ext cx="0" cy="0"/>
          <a:chOff x="0" y="0"/>
          <a:chExt cx="0" cy="0"/>
        </a:xfrm>
      </p:grpSpPr>
      <p:sp>
        <p:nvSpPr>
          <p:cNvPr id="100" name="Google Shape;100;p8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8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2" name="Google Shape;102;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03" name="Google Shape;103;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04" name="Google Shape;104;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05"/>
        <p:cNvGrpSpPr/>
        <p:nvPr/>
      </p:nvGrpSpPr>
      <p:grpSpPr>
        <a:xfrm>
          <a:off x="0" y="0"/>
          <a:ext cx="0" cy="0"/>
          <a:chOff x="0" y="0"/>
          <a:chExt cx="0" cy="0"/>
        </a:xfrm>
      </p:grpSpPr>
      <p:sp>
        <p:nvSpPr>
          <p:cNvPr id="106" name="Google Shape;106;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8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09" name="Google Shape;109;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10" name="Google Shape;11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11"/>
        <p:cNvGrpSpPr/>
        <p:nvPr/>
      </p:nvGrpSpPr>
      <p:grpSpPr>
        <a:xfrm>
          <a:off x="0" y="0"/>
          <a:ext cx="0" cy="0"/>
          <a:chOff x="0" y="0"/>
          <a:chExt cx="0" cy="0"/>
        </a:xfrm>
      </p:grpSpPr>
      <p:sp>
        <p:nvSpPr>
          <p:cNvPr id="112" name="Google Shape;112;p8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8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14" name="Google Shape;114;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15" name="Google Shape;115;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16" name="Google Shape;116;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17"/>
        <p:cNvGrpSpPr/>
        <p:nvPr/>
      </p:nvGrpSpPr>
      <p:grpSpPr>
        <a:xfrm>
          <a:off x="0" y="0"/>
          <a:ext cx="0" cy="0"/>
          <a:chOff x="0" y="0"/>
          <a:chExt cx="0" cy="0"/>
        </a:xfrm>
      </p:grpSpPr>
      <p:sp>
        <p:nvSpPr>
          <p:cNvPr id="118" name="Google Shape;118;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8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8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22" name="Google Shape;122;p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23" name="Google Shape;123;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24"/>
        <p:cNvGrpSpPr/>
        <p:nvPr/>
      </p:nvGrpSpPr>
      <p:grpSpPr>
        <a:xfrm>
          <a:off x="0" y="0"/>
          <a:ext cx="0" cy="0"/>
          <a:chOff x="0" y="0"/>
          <a:chExt cx="0" cy="0"/>
        </a:xfrm>
      </p:grpSpPr>
      <p:sp>
        <p:nvSpPr>
          <p:cNvPr id="125" name="Google Shape;125;p8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8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7" name="Google Shape;127;p8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8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9" name="Google Shape;129;p8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8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31" name="Google Shape;131;p8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32" name="Google Shape;132;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33"/>
        <p:cNvGrpSpPr/>
        <p:nvPr/>
      </p:nvGrpSpPr>
      <p:grpSpPr>
        <a:xfrm>
          <a:off x="0" y="0"/>
          <a:ext cx="0" cy="0"/>
          <a:chOff x="0" y="0"/>
          <a:chExt cx="0" cy="0"/>
        </a:xfrm>
      </p:grpSpPr>
      <p:sp>
        <p:nvSpPr>
          <p:cNvPr id="134" name="Google Shape;134;p8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36" name="Google Shape;136;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37" name="Google Shape;137;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8"/>
        <p:cNvGrpSpPr/>
        <p:nvPr/>
      </p:nvGrpSpPr>
      <p:grpSpPr>
        <a:xfrm>
          <a:off x="0" y="0"/>
          <a:ext cx="0" cy="0"/>
          <a:chOff x="0" y="0"/>
          <a:chExt cx="0" cy="0"/>
        </a:xfrm>
      </p:grpSpPr>
      <p:sp>
        <p:nvSpPr>
          <p:cNvPr id="139" name="Google Shape;139;p8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8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1" name="Google Shape;141;p8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43" name="Google Shape;143;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44" name="Google Shape;144;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5"/>
        <p:cNvGrpSpPr/>
        <p:nvPr/>
      </p:nvGrpSpPr>
      <p:grpSpPr>
        <a:xfrm>
          <a:off x="0" y="0"/>
          <a:ext cx="0" cy="0"/>
          <a:chOff x="0" y="0"/>
          <a:chExt cx="0" cy="0"/>
        </a:xfrm>
      </p:grpSpPr>
      <p:sp>
        <p:nvSpPr>
          <p:cNvPr id="146" name="Google Shape;146;p9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90"/>
          <p:cNvSpPr>
            <a:spLocks noGrp="1"/>
          </p:cNvSpPr>
          <p:nvPr>
            <p:ph type="pic" idx="2"/>
          </p:nvPr>
        </p:nvSpPr>
        <p:spPr>
          <a:xfrm>
            <a:off x="5183188" y="987425"/>
            <a:ext cx="6172200" cy="4873625"/>
          </a:xfrm>
          <a:prstGeom prst="rect">
            <a:avLst/>
          </a:prstGeom>
          <a:noFill/>
          <a:ln>
            <a:noFill/>
          </a:ln>
        </p:spPr>
      </p:sp>
      <p:sp>
        <p:nvSpPr>
          <p:cNvPr id="148" name="Google Shape;148;p9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9" name="Google Shape;149;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50" name="Google Shape;150;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51" name="Google Shape;151;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52"/>
        <p:cNvGrpSpPr/>
        <p:nvPr/>
      </p:nvGrpSpPr>
      <p:grpSpPr>
        <a:xfrm>
          <a:off x="0" y="0"/>
          <a:ext cx="0" cy="0"/>
          <a:chOff x="0" y="0"/>
          <a:chExt cx="0" cy="0"/>
        </a:xfrm>
      </p:grpSpPr>
      <p:sp>
        <p:nvSpPr>
          <p:cNvPr id="153" name="Google Shape;153;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9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56" name="Google Shape;156;p9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57" name="Google Shape;157;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8"/>
        <p:cNvGrpSpPr/>
        <p:nvPr/>
      </p:nvGrpSpPr>
      <p:grpSpPr>
        <a:xfrm>
          <a:off x="0" y="0"/>
          <a:ext cx="0" cy="0"/>
          <a:chOff x="0" y="0"/>
          <a:chExt cx="0" cy="0"/>
        </a:xfrm>
      </p:grpSpPr>
      <p:sp>
        <p:nvSpPr>
          <p:cNvPr id="159" name="Google Shape;159;p9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9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62" name="Google Shape;162;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63" name="Google Shape;163;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164"/>
        <p:cNvGrpSpPr/>
        <p:nvPr/>
      </p:nvGrpSpPr>
      <p:grpSpPr>
        <a:xfrm>
          <a:off x="0" y="0"/>
          <a:ext cx="0" cy="0"/>
          <a:chOff x="0" y="0"/>
          <a:chExt cx="0" cy="0"/>
        </a:xfrm>
      </p:grpSpPr>
      <p:sp>
        <p:nvSpPr>
          <p:cNvPr id="165" name="Google Shape;165;p9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67" name="Google Shape;167;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68" name="Google Shape;168;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9278262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6956261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5409005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6107890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40581869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6307082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5763043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280003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0189225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6606675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9888240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25/05/2026</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4132481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1" name="Google Shape;91;p7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 name="Google Shape;92;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3" name="Google Shape;93;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25/05/2026</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94906572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jp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1e5qKOwCtmyXdo-EApevfJp43uH5qBoA/view?usp=drive_link"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hyperlink" Target="https://docs.google.com/document/d/1C9DOdbcyqVTcbB3s0ilF14eYTncZO5Am/edit?usp=drive_link&amp;ouid=114341013770392776792&amp;rtpof=true&amp;sd=true"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3" Type="http://schemas.openxmlformats.org/officeDocument/2006/relationships/hyperlink" Target="https://drive.google.com/file/d/1tcrxcawP0yY9oJBH4Bfen7ZMtRbxLp-m/view?usp=drive_link"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jpg"/></Relationships>
</file>

<file path=ppt/slides/_rels/slide21.xml.rels><?xml version="1.0" encoding="UTF-8" standalone="yes"?>
<Relationships xmlns="http://schemas.openxmlformats.org/package/2006/relationships"><Relationship Id="rId3" Type="http://schemas.openxmlformats.org/officeDocument/2006/relationships/hyperlink" Target="https://drive.google.com/file/d/19qosEFWjbBJZsmejXHNVD-yn2iBUQE1N/view?usp=drive_link"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hyperlink" Target="https://docs.google.com/document/d/1jm-P1viZhC55L4jhlIk-Th4C6juoKNs_/edit?usp=drive_link&amp;ouid=114341013770392776792&amp;rtpof=true&amp;sd=true"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docs.google.com/document/d/1jm-P1viZhC55L4jhlIk-Th4C6juoKNs_/edit?usp=drive_link&amp;ouid=114341013770392776792&amp;rtpof=true&amp;sd=tru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docs.google.com/document/d/1ly3ge8Zgoup5TPwKwbLw8AfZ3Qw7_wbl/edit?usp=drive_link&amp;ouid=100385440001701439989&amp;rtpof=true&amp;sd=true"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docs.google.com/document/d/1yM8dujvp90Y_vSv4ewGp7EEFPyQON9Zc/edit?usp=sharing&amp;ouid=114892662709239121851&amp;rtpof=true&amp;sd=true"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28.xml.rels><?xml version="1.0" encoding="UTF-8" standalone="yes"?>
<Relationships xmlns="http://schemas.openxmlformats.org/package/2006/relationships"><Relationship Id="rId3" Type="http://schemas.openxmlformats.org/officeDocument/2006/relationships/hyperlink" Target="https://balsamiq.cloud/swleajz/patjbr9" TargetMode="External"/><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3" Type="http://schemas.openxmlformats.org/officeDocument/2006/relationships/hyperlink" Target="https://drive.google.com/file/d/1T-KG8uIpgUPZj-3FUil151wEM-sAwBNK/view?usp=sharing" TargetMode="External"/><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3" Type="http://schemas.openxmlformats.org/officeDocument/2006/relationships/hyperlink" Target="https://drive.google.com/file/d/1XukAUTTn_IeAbzUcsfOVii0Huw76jEkO/view?usp=sharing" TargetMode="External"/><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58.xml.rels><?xml version="1.0" encoding="UTF-8" standalone="yes"?>
<Relationships xmlns="http://schemas.openxmlformats.org/package/2006/relationships"><Relationship Id="rId3" Type="http://schemas.openxmlformats.org/officeDocument/2006/relationships/hyperlink" Target="https://docs.google.com/spreadsheets/d/1UPOCkU3zzWv0lfx2bCL5JBeMLELXJgwK/edit?usp=sharing&amp;ouid=114892662709239121851&amp;rtpof=true&amp;sd=true" TargetMode="External"/><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3" Type="http://schemas.openxmlformats.org/officeDocument/2006/relationships/hyperlink" Target="https://docs.google.com/spreadsheets/d/1cbS0ySBFXRFhS5k-ILE-E3zaJkAnmCst/edit?usp=sharing&amp;ouid=114892662709239121851&amp;rtpof=true&amp;sd=true" TargetMode="External"/><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61.xml.rels><?xml version="1.0" encoding="UTF-8" standalone="yes"?>
<Relationships xmlns="http://schemas.openxmlformats.org/package/2006/relationships"><Relationship Id="rId3" Type="http://schemas.openxmlformats.org/officeDocument/2006/relationships/hyperlink" Target="https://drive.google.com/file/d/1XqgCg_b3v6KdUU08VMDWmyoGlzh4klyr/view?usp=sharing"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62.xml.rels><?xml version="1.0" encoding="UTF-8" standalone="yes"?>
<Relationships xmlns="http://schemas.openxmlformats.org/package/2006/relationships"><Relationship Id="rId3" Type="http://schemas.openxmlformats.org/officeDocument/2006/relationships/hyperlink" Target="https://docs.google.com/document/d/1FwPjyKSodq0F5w0hzZP5Qgt3okKuZufe/edit?usp=sharing&amp;ouid=114892662709239121851&amp;rtpof=true&amp;sd=true" TargetMode="External"/><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6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1.xml"/></Relationships>
</file>

<file path=ppt/slides/_rels/slide64.xml.rels><?xml version="1.0" encoding="UTF-8" standalone="yes"?>
<Relationships xmlns="http://schemas.openxmlformats.org/package/2006/relationships"><Relationship Id="rId3" Type="http://schemas.openxmlformats.org/officeDocument/2006/relationships/hyperlink" Target="https://github.com/bicicleteria-byte" TargetMode="External"/><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65.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15D167A-EE62-EA02-E6F4-53710691F485}"/>
              </a:ext>
            </a:extLst>
          </p:cNvPr>
          <p:cNvSpPr txBox="1"/>
          <p:nvPr/>
        </p:nvSpPr>
        <p:spPr>
          <a:xfrm>
            <a:off x="1310207" y="1913868"/>
            <a:ext cx="8652943" cy="2123658"/>
          </a:xfrm>
          <a:prstGeom prst="rect">
            <a:avLst/>
          </a:prstGeom>
          <a:noFill/>
        </p:spPr>
        <p:txBody>
          <a:bodyPr wrap="square" rtlCol="0">
            <a:spAutoFit/>
          </a:bodyPr>
          <a:lstStyle/>
          <a:p>
            <a:pPr>
              <a:buClrTx/>
              <a:defRPr/>
            </a:pPr>
            <a:r>
              <a:rPr lang="es-MX" sz="4400" b="1" kern="1200" dirty="0">
                <a:solidFill>
                  <a:schemeClr val="tx1"/>
                </a:solidFill>
                <a:latin typeface="Work Sans" pitchFamily="2" charset="0"/>
                <a:ea typeface="+mn-ea"/>
                <a:cs typeface="+mn-cs"/>
              </a:rPr>
              <a:t>SISTEMA WEB PARA LA GESTIÓN DE VENTAS EN LA BICICLETERÍA S.A</a:t>
            </a:r>
            <a:endParaRPr lang="es-ES" sz="4400" b="1" kern="1200" dirty="0">
              <a:solidFill>
                <a:schemeClr val="tx1"/>
              </a:solidFill>
              <a:latin typeface="Work Sans" pitchFamily="2" charset="0"/>
              <a:ea typeface="+mn-ea"/>
              <a:cs typeface="+mn-cs"/>
            </a:endParaRPr>
          </a:p>
        </p:txBody>
      </p:sp>
      <p:sp>
        <p:nvSpPr>
          <p:cNvPr id="3" name="CuadroTexto 2">
            <a:extLst>
              <a:ext uri="{FF2B5EF4-FFF2-40B4-BE49-F238E27FC236}">
                <a16:creationId xmlns:a16="http://schemas.microsoft.com/office/drawing/2014/main" id="{5984B09E-55B0-4063-88EC-198C01BB280C}"/>
              </a:ext>
            </a:extLst>
          </p:cNvPr>
          <p:cNvSpPr txBox="1"/>
          <p:nvPr/>
        </p:nvSpPr>
        <p:spPr>
          <a:xfrm>
            <a:off x="1310207" y="4037526"/>
            <a:ext cx="3854368"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600" b="1" i="0" u="none" strike="noStrike" kern="1200" cap="none" spc="0" normalizeH="0" baseline="0" noProof="0" dirty="0">
                <a:ln>
                  <a:noFill/>
                </a:ln>
                <a:solidFill>
                  <a:prstClr val="black"/>
                </a:solidFill>
                <a:effectLst/>
                <a:uLnTx/>
                <a:uFillTx/>
                <a:latin typeface="Work Sans Light Roman" pitchFamily="2" charset="77"/>
                <a:ea typeface="+mn-ea"/>
                <a:cs typeface="+mn-cs"/>
              </a:rPr>
              <a:t>Integrantes: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sz="1600" b="0" i="0" u="none" strike="noStrike" kern="1200" cap="none" spc="0" normalizeH="0" baseline="0" noProof="0" dirty="0">
                <a:ln>
                  <a:noFill/>
                </a:ln>
                <a:solidFill>
                  <a:prstClr val="black"/>
                </a:solidFill>
                <a:effectLst/>
                <a:uLnTx/>
                <a:uFillTx/>
                <a:latin typeface="Work Sans Light Roman" pitchFamily="2" charset="77"/>
                <a:ea typeface="+mn-ea"/>
                <a:cs typeface="+mn-cs"/>
              </a:rPr>
              <a:t>Anyi Nicol Melo Salinas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O" sz="1600" b="0" i="0" u="none" strike="noStrike" kern="1200" cap="none" spc="0" normalizeH="0" baseline="0" noProof="0" dirty="0">
                <a:ln>
                  <a:noFill/>
                </a:ln>
                <a:solidFill>
                  <a:prstClr val="black"/>
                </a:solidFill>
                <a:effectLst/>
                <a:uLnTx/>
                <a:uFillTx/>
                <a:latin typeface="Work Sans Light Roman" pitchFamily="2" charset="77"/>
                <a:ea typeface="+mn-ea"/>
                <a:cs typeface="+mn-cs"/>
              </a:rPr>
              <a:t>Christian Jireth González Márquez</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419" sz="1600" b="0" i="0" u="none" strike="noStrike" kern="1200" cap="none" spc="0" normalizeH="0" baseline="0" noProof="0" dirty="0">
                <a:ln>
                  <a:noFill/>
                </a:ln>
                <a:solidFill>
                  <a:prstClr val="black"/>
                </a:solidFill>
                <a:effectLst/>
                <a:uLnTx/>
                <a:uFillTx/>
                <a:latin typeface="Work Sans Light Roman" pitchFamily="2" charset="77"/>
                <a:ea typeface="+mn-ea"/>
                <a:cs typeface="+mn-cs"/>
              </a:rPr>
              <a:t>Johan Sebastián Mur Pantano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419" sz="1600" b="0" i="0" u="none" strike="noStrike" kern="1200" cap="none" spc="0" normalizeH="0" baseline="0" noProof="0" dirty="0">
                <a:ln>
                  <a:noFill/>
                </a:ln>
                <a:solidFill>
                  <a:prstClr val="black"/>
                </a:solidFill>
                <a:effectLst/>
                <a:uLnTx/>
                <a:uFillTx/>
                <a:latin typeface="Work Sans Light Roman" pitchFamily="2" charset="77"/>
                <a:ea typeface="+mn-ea"/>
                <a:cs typeface="+mn-cs"/>
              </a:rPr>
              <a:t>Juan Camilo Novoa Obando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CO" sz="1600" b="0" i="0" u="none" strike="noStrike" kern="1200" cap="none" spc="0" normalizeH="0" baseline="0" noProof="0" dirty="0">
              <a:ln>
                <a:noFill/>
              </a:ln>
              <a:solidFill>
                <a:prstClr val="black"/>
              </a:solidFill>
              <a:effectLst/>
              <a:uLnTx/>
              <a:uFillTx/>
              <a:latin typeface="Work Sans Light Roman" pitchFamily="2" charset="77"/>
              <a:ea typeface="+mn-ea"/>
              <a:cs typeface="+mn-cs"/>
            </a:endParaRPr>
          </a:p>
        </p:txBody>
      </p:sp>
    </p:spTree>
    <p:extLst>
      <p:ext uri="{BB962C8B-B14F-4D97-AF65-F5344CB8AC3E}">
        <p14:creationId xmlns:p14="http://schemas.microsoft.com/office/powerpoint/2010/main" val="3409726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8"/>
        <p:cNvGrpSpPr/>
        <p:nvPr/>
      </p:nvGrpSpPr>
      <p:grpSpPr>
        <a:xfrm>
          <a:off x="0" y="0"/>
          <a:ext cx="0" cy="0"/>
          <a:chOff x="0" y="0"/>
          <a:chExt cx="0" cy="0"/>
        </a:xfrm>
      </p:grpSpPr>
      <p:sp>
        <p:nvSpPr>
          <p:cNvPr id="179" name="Google Shape;179;p2"/>
          <p:cNvSpPr txBox="1"/>
          <p:nvPr/>
        </p:nvSpPr>
        <p:spPr>
          <a:xfrm>
            <a:off x="1024997" y="449894"/>
            <a:ext cx="5166253"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dirty="0">
                <a:solidFill>
                  <a:srgbClr val="38AA00"/>
                </a:solidFill>
                <a:latin typeface="Work Sans"/>
                <a:ea typeface="Work Sans"/>
                <a:cs typeface="Work Sans"/>
                <a:sym typeface="Work Sans"/>
              </a:rPr>
              <a:t>Tabla de contenido</a:t>
            </a:r>
            <a:endParaRPr sz="1400" b="0" i="0" u="none" strike="noStrike" cap="none" dirty="0">
              <a:solidFill>
                <a:srgbClr val="000000"/>
              </a:solidFill>
              <a:latin typeface="Arial"/>
              <a:ea typeface="Arial"/>
              <a:cs typeface="Arial"/>
              <a:sym typeface="Arial"/>
            </a:endParaRPr>
          </a:p>
        </p:txBody>
      </p:sp>
      <p:sp>
        <p:nvSpPr>
          <p:cNvPr id="180" name="Google Shape;180;p2"/>
          <p:cNvSpPr txBox="1"/>
          <p:nvPr/>
        </p:nvSpPr>
        <p:spPr>
          <a:xfrm>
            <a:off x="4993635" y="1227637"/>
            <a:ext cx="4748810" cy="4539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9.   Requerimientos</a:t>
            </a:r>
            <a:endParaRPr sz="1400" b="0" i="0" u="none" strike="noStrike" cap="none" dirty="0">
              <a:solidFill>
                <a:srgbClr val="000000"/>
              </a:solidFill>
              <a:latin typeface="Arial"/>
              <a:ea typeface="Arial"/>
              <a:cs typeface="Arial"/>
              <a:sym typeface="Arial"/>
            </a:endParaRPr>
          </a:p>
          <a:p>
            <a:pPr marL="0"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9.1 Funcionales</a:t>
            </a:r>
            <a:endParaRPr sz="1400" b="0" i="0" u="none" strike="noStrike" cap="none" dirty="0">
              <a:solidFill>
                <a:srgbClr val="000000"/>
              </a:solidFill>
              <a:latin typeface="Arial"/>
              <a:ea typeface="Arial"/>
              <a:cs typeface="Arial"/>
              <a:sym typeface="Arial"/>
            </a:endParaRPr>
          </a:p>
          <a:p>
            <a:pPr marL="0"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9.2 No Funcionales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10.  Mock-Up</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11.  Base de Datos</a:t>
            </a:r>
            <a:endParaRPr sz="1400" b="0" i="0" u="none" strike="noStrike" cap="none" dirty="0">
              <a:solidFill>
                <a:srgbClr val="000000"/>
              </a:solidFill>
              <a:latin typeface="Arial"/>
              <a:ea typeface="Arial"/>
              <a:cs typeface="Arial"/>
              <a:sym typeface="Arial"/>
            </a:endParaRPr>
          </a:p>
          <a:p>
            <a:pPr marR="0" lvl="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11.1 Diagrama MER</a:t>
            </a:r>
            <a:endParaRPr sz="1400" b="0" i="0" u="none" strike="noStrike" cap="none" dirty="0">
              <a:solidFill>
                <a:srgbClr val="000000"/>
              </a:solidFill>
              <a:latin typeface="Arial"/>
              <a:ea typeface="Arial"/>
              <a:cs typeface="Arial"/>
              <a:sym typeface="Arial"/>
            </a:endParaRPr>
          </a:p>
          <a:p>
            <a:pPr marR="0" lvl="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11.2 Diagrama Relacional</a:t>
            </a:r>
            <a:endParaRPr sz="1400" b="0" i="0" u="none" strike="noStrike" cap="none" dirty="0">
              <a:solidFill>
                <a:srgbClr val="000000"/>
              </a:solidFill>
              <a:latin typeface="Arial"/>
              <a:ea typeface="Arial"/>
              <a:cs typeface="Arial"/>
              <a:sym typeface="Arial"/>
            </a:endParaRPr>
          </a:p>
          <a:p>
            <a:pPr marR="0" lvl="0"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11.3 </a:t>
            </a:r>
            <a:r>
              <a:rPr lang="es-419" sz="1600" b="0" i="0" u="none" strike="noStrike" cap="none" dirty="0">
                <a:solidFill>
                  <a:srgbClr val="000000"/>
                </a:solidFill>
                <a:latin typeface="Times New Roman"/>
                <a:ea typeface="Times New Roman"/>
                <a:cs typeface="Times New Roman"/>
                <a:sym typeface="Times New Roman"/>
              </a:rPr>
              <a:t>Normalización</a:t>
            </a:r>
            <a:endParaRPr lang="es-419" sz="1400" b="0" i="0" u="none" strike="noStrike" cap="none" dirty="0">
              <a:solidFill>
                <a:srgbClr val="000000"/>
              </a:solidFill>
              <a:latin typeface="Arial"/>
              <a:ea typeface="Arial"/>
              <a:cs typeface="Arial"/>
              <a:sym typeface="Arial"/>
            </a:endParaRPr>
          </a:p>
          <a:p>
            <a:pPr>
              <a:spcBef>
                <a:spcPts val="600"/>
              </a:spcBef>
              <a:buSzPts val="1600"/>
            </a:pPr>
            <a:r>
              <a:rPr lang="es-419" sz="1600" dirty="0">
                <a:latin typeface="Times New Roman"/>
                <a:ea typeface="Times New Roman"/>
                <a:cs typeface="Times New Roman"/>
                <a:sym typeface="Times New Roman"/>
              </a:rPr>
              <a:t>         </a:t>
            </a:r>
            <a:r>
              <a:rPr lang="es-419" sz="1600" b="0" i="0" u="none" strike="noStrike" cap="none" dirty="0">
                <a:solidFill>
                  <a:srgbClr val="000000"/>
                </a:solidFill>
                <a:latin typeface="Times New Roman"/>
                <a:ea typeface="Times New Roman"/>
                <a:cs typeface="Times New Roman"/>
                <a:sym typeface="Times New Roman"/>
              </a:rPr>
              <a:t>11.4 </a:t>
            </a:r>
            <a:r>
              <a:rPr lang="es-CO" sz="1600" b="0" i="0" u="none" strike="noStrike" cap="none" dirty="0">
                <a:solidFill>
                  <a:srgbClr val="000000"/>
                </a:solidFill>
                <a:latin typeface="Times New Roman"/>
                <a:ea typeface="Times New Roman"/>
                <a:cs typeface="Times New Roman"/>
                <a:sym typeface="Times New Roman"/>
              </a:rPr>
              <a:t>Diccionario de datos</a:t>
            </a:r>
            <a:endParaRPr lang="es-CO"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12.  Casos de Uso</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12.1 Diagrama Casos de Uso</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12.2 Documentación Casos de Uso</a:t>
            </a:r>
            <a:endParaRPr dirty="0"/>
          </a:p>
          <a:p>
            <a:pPr marL="0" marR="0" lvl="0" indent="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13.  Git-Hub</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endParaRPr sz="1600" b="0" i="0" u="none" strike="noStrike" cap="none" dirty="0">
              <a:solidFill>
                <a:srgbClr val="000000"/>
              </a:solidFill>
              <a:latin typeface="Times New Roman"/>
              <a:ea typeface="Times New Roman"/>
              <a:cs typeface="Times New Roman"/>
              <a:sym typeface="Times New Roman"/>
            </a:endParaRPr>
          </a:p>
        </p:txBody>
      </p:sp>
      <p:cxnSp>
        <p:nvCxnSpPr>
          <p:cNvPr id="181" name="Google Shape;181;p2"/>
          <p:cNvCxnSpPr/>
          <p:nvPr/>
        </p:nvCxnSpPr>
        <p:spPr>
          <a:xfrm>
            <a:off x="1151581" y="96259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182" name="Google Shape;182;p2"/>
          <p:cNvPicPr preferRelativeResize="0"/>
          <p:nvPr/>
        </p:nvPicPr>
        <p:blipFill rotWithShape="1">
          <a:blip r:embed="rId4">
            <a:alphaModFix/>
          </a:blip>
          <a:srcRect l="984" t="-134"/>
          <a:stretch/>
        </p:blipFill>
        <p:spPr>
          <a:xfrm>
            <a:off x="9194857" y="2572147"/>
            <a:ext cx="2300662" cy="1713705"/>
          </a:xfrm>
          <a:prstGeom prst="rect">
            <a:avLst/>
          </a:prstGeom>
          <a:noFill/>
          <a:ln>
            <a:noFill/>
          </a:ln>
        </p:spPr>
      </p:pic>
      <p:sp>
        <p:nvSpPr>
          <p:cNvPr id="183" name="Google Shape;183;p2"/>
          <p:cNvSpPr txBox="1"/>
          <p:nvPr/>
        </p:nvSpPr>
        <p:spPr>
          <a:xfrm>
            <a:off x="1151581" y="1227637"/>
            <a:ext cx="3497655" cy="453966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Calibri"/>
              <a:buAutoNum type="arabicPeriod"/>
            </a:pPr>
            <a:r>
              <a:rPr lang="es-CO" sz="1600" b="0" i="0" u="none" strike="noStrike" cap="none" dirty="0">
                <a:solidFill>
                  <a:srgbClr val="000000"/>
                </a:solidFill>
                <a:latin typeface="Times New Roman"/>
                <a:ea typeface="Times New Roman"/>
                <a:cs typeface="Times New Roman"/>
                <a:sym typeface="Times New Roman"/>
              </a:rPr>
              <a:t>Contextualización</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000000"/>
              </a:buClr>
              <a:buSzPts val="1600"/>
              <a:buFont typeface="Calibri"/>
              <a:buAutoNum type="arabicPeriod"/>
            </a:pPr>
            <a:r>
              <a:rPr lang="es-CO" sz="1600" b="0" i="0" u="none" strike="noStrike" cap="none" dirty="0">
                <a:solidFill>
                  <a:srgbClr val="000000"/>
                </a:solidFill>
                <a:latin typeface="Times New Roman"/>
                <a:ea typeface="Times New Roman"/>
                <a:cs typeface="Times New Roman"/>
                <a:sym typeface="Times New Roman"/>
              </a:rPr>
              <a:t>Planteamiento Problema</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000000"/>
              </a:buClr>
              <a:buSzPts val="1600"/>
              <a:buFont typeface="Calibri"/>
              <a:buAutoNum type="arabicPeriod"/>
            </a:pPr>
            <a:r>
              <a:rPr lang="es-CO" sz="1600" b="0" i="0" u="none" strike="noStrike" cap="none" dirty="0">
                <a:solidFill>
                  <a:srgbClr val="000000"/>
                </a:solidFill>
                <a:latin typeface="Times New Roman"/>
                <a:ea typeface="Times New Roman"/>
                <a:cs typeface="Times New Roman"/>
                <a:sym typeface="Times New Roman"/>
              </a:rPr>
              <a:t>Pregunta Problema</a:t>
            </a:r>
            <a:endParaRPr dirty="0"/>
          </a:p>
          <a:p>
            <a:pPr marL="0" marR="0" lvl="0" indent="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4.    Justificación</a:t>
            </a:r>
            <a:endParaRPr dirty="0"/>
          </a:p>
          <a:p>
            <a:pPr marL="342900" marR="0" lvl="0" indent="-34290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5.	Objetivos</a:t>
            </a:r>
            <a:endParaRPr dirty="0"/>
          </a:p>
          <a:p>
            <a:pPr marL="534988" marR="0" lvl="0" indent="-534988"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	4.1 Objetivo General</a:t>
            </a:r>
            <a:endParaRPr dirty="0"/>
          </a:p>
          <a:p>
            <a:pPr marL="534988" marR="0" lvl="0" indent="-534988"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	4.2 Objetivos Específicos</a:t>
            </a:r>
            <a:endParaRPr sz="16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6.	Alcance del Proyecto</a:t>
            </a:r>
            <a:endParaRPr sz="16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7.	BPMN</a:t>
            </a:r>
            <a:endParaRPr sz="16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600"/>
              </a:spcBef>
              <a:spcAft>
                <a:spcPts val="0"/>
              </a:spcAft>
              <a:buNone/>
            </a:pPr>
            <a:r>
              <a:rPr lang="es-CO" sz="1600" b="0" i="0" u="none" strike="noStrike" cap="none" dirty="0">
                <a:solidFill>
                  <a:srgbClr val="000000"/>
                </a:solidFill>
                <a:latin typeface="Times New Roman"/>
                <a:ea typeface="Times New Roman"/>
                <a:cs typeface="Times New Roman"/>
                <a:sym typeface="Times New Roman"/>
              </a:rPr>
              <a:t>8.   Levantamiento de Información</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8.1 Informe Observación</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8.2 Informe Entrevista</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8.3 Encuesta</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8.4 Análisis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1868447" y="2354804"/>
            <a:ext cx="853791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6000" b="1" i="0" u="none" strike="noStrike" kern="1200" cap="none" spc="0" normalizeH="0" baseline="0" noProof="0" dirty="0">
                <a:ln>
                  <a:noFill/>
                </a:ln>
                <a:solidFill>
                  <a:prstClr val="white"/>
                </a:solidFill>
                <a:effectLst/>
                <a:uLnTx/>
                <a:uFillTx/>
                <a:latin typeface="Work Sans" pitchFamily="2" charset="0"/>
                <a:ea typeface="+mn-ea"/>
                <a:cs typeface="+mn-cs"/>
              </a:rPr>
              <a:t>CONTEXTUALIZACIÓN</a:t>
            </a: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4972228" y="3429000"/>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973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cxnSp>
        <p:nvCxnSpPr>
          <p:cNvPr id="194" name="Google Shape;194;p4"/>
          <p:cNvCxnSpPr/>
          <p:nvPr/>
        </p:nvCxnSpPr>
        <p:spPr>
          <a:xfrm>
            <a:off x="922743" y="1345423"/>
            <a:ext cx="2247544" cy="0"/>
          </a:xfrm>
          <a:prstGeom prst="straightConnector1">
            <a:avLst/>
          </a:prstGeom>
          <a:noFill/>
          <a:ln w="12700" cap="flat" cmpd="sng">
            <a:solidFill>
              <a:srgbClr val="38AA00"/>
            </a:solidFill>
            <a:prstDash val="solid"/>
            <a:miter lim="800000"/>
            <a:headEnd type="none" w="sm" len="sm"/>
            <a:tailEnd type="none" w="sm" len="sm"/>
          </a:ln>
        </p:spPr>
      </p:cxnSp>
      <p:pic>
        <p:nvPicPr>
          <p:cNvPr id="195" name="Google Shape;195;p4"/>
          <p:cNvPicPr preferRelativeResize="0"/>
          <p:nvPr/>
        </p:nvPicPr>
        <p:blipFill rotWithShape="1">
          <a:blip r:embed="rId3">
            <a:alphaModFix/>
          </a:blip>
          <a:srcRect t="10729" b="7842"/>
          <a:stretch/>
        </p:blipFill>
        <p:spPr>
          <a:xfrm>
            <a:off x="7423894" y="1959716"/>
            <a:ext cx="4416815" cy="2938567"/>
          </a:xfrm>
          <a:prstGeom prst="rect">
            <a:avLst/>
          </a:prstGeom>
          <a:noFill/>
          <a:ln>
            <a:noFill/>
          </a:ln>
        </p:spPr>
      </p:pic>
      <p:sp>
        <p:nvSpPr>
          <p:cNvPr id="196" name="Google Shape;196;p4"/>
          <p:cNvSpPr txBox="1"/>
          <p:nvPr/>
        </p:nvSpPr>
        <p:spPr>
          <a:xfrm>
            <a:off x="813518" y="760407"/>
            <a:ext cx="4215681"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dirty="0">
                <a:solidFill>
                  <a:srgbClr val="38AA00"/>
                </a:solidFill>
                <a:latin typeface="Work Sans"/>
                <a:ea typeface="Work Sans"/>
                <a:cs typeface="Work Sans"/>
                <a:sym typeface="Work Sans"/>
              </a:rPr>
              <a:t>Bicicletería S.A</a:t>
            </a:r>
            <a:endParaRPr sz="1400" b="0" i="0" u="none" strike="noStrike" cap="none" dirty="0">
              <a:solidFill>
                <a:srgbClr val="000000"/>
              </a:solidFill>
              <a:latin typeface="Arial"/>
              <a:ea typeface="Arial"/>
              <a:cs typeface="Arial"/>
              <a:sym typeface="Arial"/>
            </a:endParaRPr>
          </a:p>
        </p:txBody>
      </p:sp>
      <p:sp>
        <p:nvSpPr>
          <p:cNvPr id="197" name="Google Shape;197;p4"/>
          <p:cNvSpPr txBox="1"/>
          <p:nvPr/>
        </p:nvSpPr>
        <p:spPr>
          <a:xfrm>
            <a:off x="922743" y="1915764"/>
            <a:ext cx="6140530" cy="317009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s-CO" sz="1800" b="1" i="0" u="none" strike="noStrike" cap="none">
                <a:solidFill>
                  <a:srgbClr val="000000"/>
                </a:solidFill>
                <a:latin typeface="Times New Roman"/>
                <a:ea typeface="Times New Roman"/>
                <a:cs typeface="Times New Roman"/>
                <a:sym typeface="Times New Roman"/>
              </a:rPr>
              <a:t>Información general</a:t>
            </a:r>
            <a:endParaRPr sz="1800" b="0" i="0" u="none" strike="noStrike" cap="none">
              <a:solidFill>
                <a:srgbClr val="000000"/>
              </a:solidFill>
              <a:latin typeface="Times New Roman"/>
              <a:ea typeface="Times New Roman"/>
              <a:cs typeface="Times New Roman"/>
              <a:sym typeface="Times New Roman"/>
            </a:endParaRPr>
          </a:p>
          <a:p>
            <a:pPr marL="0" marR="0" lvl="0" indent="177800" algn="just" rtl="0">
              <a:lnSpc>
                <a:spcPct val="100000"/>
              </a:lnSpc>
              <a:spcBef>
                <a:spcPts val="80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Dedicados en venta de repuestos y mantenimiento técnico integral de bicicletas de forma presencial.</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Administración:</a:t>
            </a:r>
            <a:r>
              <a:rPr lang="es-CO" sz="1600" b="0" i="0" u="none" strike="noStrike" cap="none">
                <a:solidFill>
                  <a:srgbClr val="000000"/>
                </a:solidFill>
                <a:latin typeface="Times New Roman"/>
                <a:ea typeface="Times New Roman"/>
                <a:cs typeface="Times New Roman"/>
                <a:sym typeface="Times New Roman"/>
              </a:rPr>
              <a:t> Azucena Salinas Hernández</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Ubicación:</a:t>
            </a:r>
            <a:r>
              <a:rPr lang="es-CO" sz="1600" b="0" i="0" u="none" strike="noStrike" cap="none">
                <a:solidFill>
                  <a:srgbClr val="000000"/>
                </a:solidFill>
                <a:latin typeface="Times New Roman"/>
                <a:ea typeface="Times New Roman"/>
                <a:cs typeface="Times New Roman"/>
                <a:sym typeface="Times New Roman"/>
              </a:rPr>
              <a:t> Cra. 24 #47-10, Soacha, Cundinamarca.</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Equipo:</a:t>
            </a:r>
            <a:r>
              <a:rPr lang="es-CO" sz="1600" b="0" i="0" u="none" strike="noStrike" cap="none">
                <a:solidFill>
                  <a:srgbClr val="000000"/>
                </a:solidFill>
                <a:latin typeface="Times New Roman"/>
                <a:ea typeface="Times New Roman"/>
                <a:cs typeface="Times New Roman"/>
                <a:sym typeface="Times New Roman"/>
              </a:rPr>
              <a:t> Cuentan con un grupo de 2 colaboradores </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Última actualización de imagen:</a:t>
            </a:r>
            <a:r>
              <a:rPr lang="es-CO" sz="1600" b="0" i="0" u="none" strike="noStrike" cap="none">
                <a:solidFill>
                  <a:srgbClr val="000000"/>
                </a:solidFill>
                <a:latin typeface="Times New Roman"/>
                <a:ea typeface="Times New Roman"/>
                <a:cs typeface="Times New Roman"/>
                <a:sym typeface="Times New Roman"/>
              </a:rPr>
              <a:t> Octubre de 2025.</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Trayectoria:</a:t>
            </a:r>
            <a:r>
              <a:rPr lang="es-CO" sz="1600" b="0" i="0" u="none" strike="noStrike" cap="none">
                <a:solidFill>
                  <a:srgbClr val="000000"/>
                </a:solidFill>
                <a:latin typeface="Times New Roman"/>
                <a:ea typeface="Times New Roman"/>
                <a:cs typeface="Times New Roman"/>
                <a:sym typeface="Times New Roman"/>
              </a:rPr>
              <a:t> 9 años de experiencia brindando soluciones a la comunidad ciclista.</a:t>
            </a:r>
            <a:endParaRPr sz="1400" b="0" i="0" u="none" strike="noStrike" cap="none">
              <a:solidFill>
                <a:srgbClr val="000000"/>
              </a:solidFill>
              <a:latin typeface="Arial"/>
              <a:ea typeface="Arial"/>
              <a:cs typeface="Arial"/>
              <a:sym typeface="Arial"/>
            </a:endParaRPr>
          </a:p>
          <a:p>
            <a:pPr marL="342900" marR="0" lvl="0" indent="-279400" algn="just" rtl="0">
              <a:lnSpc>
                <a:spcPct val="100000"/>
              </a:lnSpc>
              <a:spcBef>
                <a:spcPts val="0"/>
              </a:spcBef>
              <a:spcAft>
                <a:spcPts val="0"/>
              </a:spcAft>
              <a:buClr>
                <a:schemeClr val="dk1"/>
              </a:buClr>
              <a:buSzPts val="1000"/>
              <a:buFont typeface="Arial"/>
              <a:buNone/>
            </a:pP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242198" y="2631803"/>
            <a:ext cx="11790407" cy="923330"/>
          </a:xfrm>
          <a:prstGeom prst="rect">
            <a:avLst/>
          </a:prstGeom>
          <a:noFill/>
        </p:spPr>
        <p:txBody>
          <a:bodyPr wrap="none" rtlCol="0">
            <a:spAutoFit/>
          </a:bodyPr>
          <a:lstStyle/>
          <a:p>
            <a:pPr algn="ctr">
              <a:buClrTx/>
              <a:defRPr/>
            </a:pPr>
            <a:r>
              <a:rPr lang="es-CO" sz="5400" b="1" kern="1200" dirty="0">
                <a:solidFill>
                  <a:prstClr val="white"/>
                </a:solidFill>
                <a:latin typeface="Work Sans" pitchFamily="2" charset="0"/>
                <a:ea typeface="+mn-ea"/>
                <a:cs typeface="+mn-cs"/>
              </a:rPr>
              <a:t>PLANTEAMIENTO DEL PROBLEMA</a:t>
            </a: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219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6"/>
          <p:cNvSpPr txBox="1"/>
          <p:nvPr/>
        </p:nvSpPr>
        <p:spPr>
          <a:xfrm>
            <a:off x="941236" y="871869"/>
            <a:ext cx="721520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dirty="0">
                <a:solidFill>
                  <a:srgbClr val="38AA00"/>
                </a:solidFill>
                <a:latin typeface="Work Sans"/>
                <a:ea typeface="Work Sans"/>
                <a:cs typeface="Work Sans"/>
                <a:sym typeface="Work Sans"/>
              </a:rPr>
              <a:t>Planteamiento del problema</a:t>
            </a:r>
            <a:endParaRPr sz="1400" b="0" i="0" u="none" strike="noStrike" cap="none" dirty="0">
              <a:solidFill>
                <a:srgbClr val="000000"/>
              </a:solidFill>
              <a:latin typeface="Arial"/>
              <a:ea typeface="Arial"/>
              <a:cs typeface="Arial"/>
              <a:sym typeface="Arial"/>
            </a:endParaRPr>
          </a:p>
        </p:txBody>
      </p:sp>
      <p:cxnSp>
        <p:nvCxnSpPr>
          <p:cNvPr id="209" name="Google Shape;209;p6"/>
          <p:cNvCxnSpPr/>
          <p:nvPr/>
        </p:nvCxnSpPr>
        <p:spPr>
          <a:xfrm>
            <a:off x="1077027" y="1483846"/>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10" name="Google Shape;210;p6"/>
          <p:cNvSpPr txBox="1"/>
          <p:nvPr/>
        </p:nvSpPr>
        <p:spPr>
          <a:xfrm>
            <a:off x="1077027" y="1893473"/>
            <a:ext cx="8981400" cy="2191800"/>
          </a:xfrm>
          <a:prstGeom prst="rect">
            <a:avLst/>
          </a:prstGeom>
          <a:noFill/>
          <a:ln>
            <a:noFill/>
          </a:ln>
        </p:spPr>
        <p:txBody>
          <a:bodyPr spcFirstLastPara="1" wrap="square" lIns="91425" tIns="45700" rIns="91425" bIns="45700" anchor="t" anchorCtr="0">
            <a:spAutoFit/>
          </a:bodyPr>
          <a:lstStyle/>
          <a:p>
            <a:pPr marL="0" marR="0" lvl="0" indent="450000" algn="l" rtl="0">
              <a:lnSpc>
                <a:spcPct val="115000"/>
              </a:lnSpc>
              <a:spcBef>
                <a:spcPts val="0"/>
              </a:spcBef>
              <a:spcAft>
                <a:spcPts val="0"/>
              </a:spcAft>
              <a:buClr>
                <a:srgbClr val="000000"/>
              </a:buClr>
              <a:buSzPts val="1600"/>
              <a:buFont typeface="Arial"/>
              <a:buNone/>
            </a:pPr>
            <a:r>
              <a:rPr lang="es-CO" sz="1600" b="0" i="0" u="none" strike="noStrike" cap="none" dirty="0">
                <a:solidFill>
                  <a:schemeClr val="dk1"/>
                </a:solidFill>
                <a:latin typeface="Times New Roman"/>
                <a:ea typeface="Times New Roman"/>
                <a:cs typeface="Times New Roman"/>
                <a:sym typeface="Times New Roman"/>
              </a:rPr>
              <a:t>Actualmente, el negocio gestiona sus ventas y el control de inventarios de forma manual o en papel. Al registrar todo de esta manera, la información se encuentra desorganizada, lo que impide conocer qué se ha vendido o qué queda disponible en tiempo real.</a:t>
            </a:r>
            <a:endParaRPr sz="1400" b="0" i="0" u="none" strike="noStrike" cap="none" dirty="0">
              <a:solidFill>
                <a:srgbClr val="000000"/>
              </a:solidFill>
              <a:latin typeface="Arial"/>
              <a:ea typeface="Arial"/>
              <a:cs typeface="Arial"/>
              <a:sym typeface="Arial"/>
            </a:endParaRPr>
          </a:p>
          <a:p>
            <a:pPr marL="0" marR="0" lvl="0" indent="450000" algn="l" rtl="0">
              <a:lnSpc>
                <a:spcPct val="115000"/>
              </a:lnSpc>
              <a:spcBef>
                <a:spcPts val="1200"/>
              </a:spcBef>
              <a:spcAft>
                <a:spcPts val="0"/>
              </a:spcAft>
              <a:buClr>
                <a:srgbClr val="000000"/>
              </a:buClr>
              <a:buSzPts val="1600"/>
              <a:buFont typeface="Arial"/>
              <a:buNone/>
            </a:pPr>
            <a:r>
              <a:rPr lang="es-CO" sz="1600" b="0" i="0" u="none" strike="noStrike" cap="none" dirty="0">
                <a:solidFill>
                  <a:schemeClr val="dk1"/>
                </a:solidFill>
                <a:latin typeface="Times New Roman"/>
                <a:ea typeface="Times New Roman"/>
                <a:cs typeface="Times New Roman"/>
                <a:sym typeface="Times New Roman"/>
              </a:rPr>
              <a:t>Esto causa que los registros no coinciden con lo que hay físicamente en el estante, provocando pérdidas de dinero al comprar mercancía innecesaria o no tener productos para vender. Además, la falta de una presencia virtual limita el alcance para conseguir clientes nuevos y pone en riesgo la seguridad de los datos de las ventas y de los clientes.</a:t>
            </a:r>
            <a:endParaRPr sz="1400" b="0" i="0" u="none" strike="noStrike" cap="none" dirty="0">
              <a:solidFill>
                <a:srgbClr val="000000"/>
              </a:solidFill>
              <a:latin typeface="Arial"/>
              <a:ea typeface="Arial"/>
              <a:cs typeface="Arial"/>
              <a:sym typeface="Arial"/>
            </a:endParaRPr>
          </a:p>
        </p:txBody>
      </p:sp>
      <p:pic>
        <p:nvPicPr>
          <p:cNvPr id="211" name="Google Shape;211;p6"/>
          <p:cNvPicPr preferRelativeResize="0"/>
          <p:nvPr/>
        </p:nvPicPr>
        <p:blipFill rotWithShape="1">
          <a:blip r:embed="rId3">
            <a:alphaModFix/>
          </a:blip>
          <a:srcRect l="8596" t="3566" r="9814" b="6212"/>
          <a:stretch/>
        </p:blipFill>
        <p:spPr>
          <a:xfrm>
            <a:off x="4548841" y="4031948"/>
            <a:ext cx="2939143" cy="27101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1625866" y="2539470"/>
            <a:ext cx="8940268" cy="1015663"/>
          </a:xfrm>
          <a:prstGeom prst="rect">
            <a:avLst/>
          </a:prstGeom>
          <a:noFill/>
        </p:spPr>
        <p:txBody>
          <a:bodyPr wrap="none" rtlCol="0">
            <a:spAutoFit/>
          </a:bodyPr>
          <a:lstStyle/>
          <a:p>
            <a:pPr algn="ctr">
              <a:buClrTx/>
              <a:defRPr/>
            </a:pPr>
            <a:r>
              <a:rPr lang="es-CO" sz="6000" b="1" kern="1200" dirty="0">
                <a:solidFill>
                  <a:prstClr val="white"/>
                </a:solidFill>
                <a:latin typeface="Work Sans" pitchFamily="2" charset="0"/>
                <a:ea typeface="+mn-ea"/>
                <a:cs typeface="+mn-cs"/>
              </a:rPr>
              <a:t>PREGUNTA PROBLEMA</a:t>
            </a: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302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8"/>
          <p:cNvSpPr txBox="1"/>
          <p:nvPr/>
        </p:nvSpPr>
        <p:spPr>
          <a:xfrm>
            <a:off x="883061" y="1408081"/>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Pregunta problema</a:t>
            </a:r>
            <a:endParaRPr sz="3600" b="1" i="0" u="none" strike="noStrike" cap="none">
              <a:solidFill>
                <a:srgbClr val="38AA00"/>
              </a:solidFill>
              <a:latin typeface="Work Sans"/>
              <a:ea typeface="Work Sans"/>
              <a:cs typeface="Work Sans"/>
              <a:sym typeface="Work Sans"/>
            </a:endParaRPr>
          </a:p>
          <a:p>
            <a:pPr marL="0" marR="0" lvl="0" indent="0" algn="l" rtl="0">
              <a:lnSpc>
                <a:spcPct val="90000"/>
              </a:lnSpc>
              <a:spcBef>
                <a:spcPts val="0"/>
              </a:spcBef>
              <a:spcAft>
                <a:spcPts val="0"/>
              </a:spcAft>
              <a:buClr>
                <a:schemeClr val="dk1"/>
              </a:buClr>
              <a:buSzPts val="3600"/>
              <a:buFont typeface="Calibri"/>
              <a:buNone/>
            </a:pPr>
            <a:endParaRPr sz="3600" b="1" i="0" u="none" strike="noStrike" cap="none">
              <a:solidFill>
                <a:srgbClr val="38AA00"/>
              </a:solidFill>
              <a:latin typeface="Work Sans"/>
              <a:ea typeface="Work Sans"/>
              <a:cs typeface="Work Sans"/>
              <a:sym typeface="Work Sans"/>
            </a:endParaRPr>
          </a:p>
        </p:txBody>
      </p:sp>
      <p:cxnSp>
        <p:nvCxnSpPr>
          <p:cNvPr id="223" name="Google Shape;223;p8"/>
          <p:cNvCxnSpPr/>
          <p:nvPr/>
        </p:nvCxnSpPr>
        <p:spPr>
          <a:xfrm>
            <a:off x="1049318" y="2084679"/>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24" name="Google Shape;224;p8"/>
          <p:cNvSpPr txBox="1"/>
          <p:nvPr/>
        </p:nvSpPr>
        <p:spPr>
          <a:xfrm>
            <a:off x="1049318" y="2308102"/>
            <a:ext cx="8645189" cy="1121269"/>
          </a:xfrm>
          <a:prstGeom prst="rect">
            <a:avLst/>
          </a:prstGeom>
          <a:noFill/>
          <a:ln>
            <a:noFill/>
          </a:ln>
        </p:spPr>
        <p:txBody>
          <a:bodyPr spcFirstLastPara="1" wrap="square" lIns="91425" tIns="45700" rIns="91425" bIns="45700" anchor="t" anchorCtr="0">
            <a:spAutoFit/>
          </a:bodyPr>
          <a:lstStyle/>
          <a:p>
            <a:pPr marL="0" marR="0" lvl="0" indent="270510" algn="just" rtl="0">
              <a:lnSpc>
                <a:spcPct val="200000"/>
              </a:lnSpc>
              <a:spcBef>
                <a:spcPts val="0"/>
              </a:spcBef>
              <a:spcAft>
                <a:spcPts val="0"/>
              </a:spcAft>
              <a:buClr>
                <a:srgbClr val="000000"/>
              </a:buClr>
              <a:buSzPts val="1800"/>
              <a:buFont typeface="Arial"/>
              <a:buNone/>
            </a:pPr>
            <a:r>
              <a:rPr lang="es-CO" sz="1800" b="0" i="0" u="none" strike="noStrike" cap="none">
                <a:solidFill>
                  <a:srgbClr val="000000"/>
                </a:solidFill>
                <a:latin typeface="Times New Roman"/>
                <a:ea typeface="Times New Roman"/>
                <a:cs typeface="Times New Roman"/>
                <a:sym typeface="Times New Roman"/>
              </a:rPr>
              <a:t>¿Cómo desarrollar un aplicativo web que permita gestionar de forma eficiente la venta, el inventario y la administración de clientes y empleados en la Bicicletería S.A?</a:t>
            </a:r>
            <a:endParaRPr sz="1800" b="0" i="0" u="none" strike="noStrike" cap="none">
              <a:solidFill>
                <a:schemeClr val="dk1"/>
              </a:solidFill>
              <a:latin typeface="Arial"/>
              <a:ea typeface="Arial"/>
              <a:cs typeface="Arial"/>
              <a:sym typeface="Arial"/>
            </a:endParaRPr>
          </a:p>
        </p:txBody>
      </p:sp>
      <p:cxnSp>
        <p:nvCxnSpPr>
          <p:cNvPr id="225" name="Google Shape;225;p8"/>
          <p:cNvCxnSpPr/>
          <p:nvPr/>
        </p:nvCxnSpPr>
        <p:spPr>
          <a:xfrm>
            <a:off x="5050952" y="3555133"/>
            <a:ext cx="2247544" cy="0"/>
          </a:xfrm>
          <a:prstGeom prst="straightConnector1">
            <a:avLst/>
          </a:prstGeom>
          <a:noFill/>
          <a:ln w="12700" cap="flat" cmpd="sng">
            <a:solidFill>
              <a:schemeClr val="lt1"/>
            </a:solidFill>
            <a:prstDash val="solid"/>
            <a:miter lim="800000"/>
            <a:headEnd type="none" w="sm" len="sm"/>
            <a:tailEnd type="none" w="sm" len="sm"/>
          </a:ln>
        </p:spPr>
      </p:cxnSp>
      <p:pic>
        <p:nvPicPr>
          <p:cNvPr id="226" name="Google Shape;226;p8"/>
          <p:cNvPicPr preferRelativeResize="0"/>
          <p:nvPr/>
        </p:nvPicPr>
        <p:blipFill rotWithShape="1">
          <a:blip r:embed="rId3">
            <a:alphaModFix/>
          </a:blip>
          <a:srcRect/>
          <a:stretch/>
        </p:blipFill>
        <p:spPr>
          <a:xfrm>
            <a:off x="3726294" y="3989263"/>
            <a:ext cx="4739411" cy="22859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3035710" y="2539470"/>
            <a:ext cx="6120586" cy="1015663"/>
          </a:xfrm>
          <a:prstGeom prst="rect">
            <a:avLst/>
          </a:prstGeom>
          <a:noFill/>
        </p:spPr>
        <p:txBody>
          <a:bodyPr wrap="none" rtlCol="0">
            <a:spAutoFit/>
          </a:bodyPr>
          <a:lstStyle/>
          <a:p>
            <a:pPr algn="ctr">
              <a:buClrTx/>
              <a:defRPr/>
            </a:pPr>
            <a:r>
              <a:rPr lang="es-CO" sz="6000" b="1" kern="1200" dirty="0">
                <a:solidFill>
                  <a:prstClr val="white"/>
                </a:solidFill>
                <a:latin typeface="Work Sans" pitchFamily="2" charset="0"/>
                <a:ea typeface="+mn-ea"/>
                <a:cs typeface="+mn-cs"/>
              </a:rPr>
              <a:t>JUSTIFICACIÓN</a:t>
            </a: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1137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0"/>
          <p:cNvSpPr txBox="1"/>
          <p:nvPr/>
        </p:nvSpPr>
        <p:spPr>
          <a:xfrm>
            <a:off x="836879" y="901093"/>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Justificación</a:t>
            </a:r>
            <a:endParaRPr sz="1400" b="0" i="0" u="none" strike="noStrike" cap="none">
              <a:solidFill>
                <a:srgbClr val="000000"/>
              </a:solidFill>
              <a:latin typeface="Arial"/>
              <a:ea typeface="Arial"/>
              <a:cs typeface="Arial"/>
              <a:sym typeface="Arial"/>
            </a:endParaRPr>
          </a:p>
        </p:txBody>
      </p:sp>
      <p:cxnSp>
        <p:nvCxnSpPr>
          <p:cNvPr id="238" name="Google Shape;238;p10"/>
          <p:cNvCxnSpPr/>
          <p:nvPr/>
        </p:nvCxnSpPr>
        <p:spPr>
          <a:xfrm>
            <a:off x="956955" y="1556479"/>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39" name="Google Shape;239;p10"/>
          <p:cNvSpPr txBox="1"/>
          <p:nvPr/>
        </p:nvSpPr>
        <p:spPr>
          <a:xfrm>
            <a:off x="836879" y="1643470"/>
            <a:ext cx="9766466" cy="3397020"/>
          </a:xfrm>
          <a:prstGeom prst="rect">
            <a:avLst/>
          </a:prstGeom>
          <a:noFill/>
          <a:ln>
            <a:noFill/>
          </a:ln>
        </p:spPr>
        <p:txBody>
          <a:bodyPr spcFirstLastPara="1" wrap="square" lIns="91425" tIns="45700" rIns="91425" bIns="45700" anchor="t" anchorCtr="0">
            <a:spAutoFit/>
          </a:bodyPr>
          <a:lstStyle/>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Actualmente no existe un aplicativo que permita gestionar de manera digital la venta de bicicletas y repuestos. El desarrollo del aplicativo permitirá digitalizar y optimizar los procesos de gestión de ventas, inventario y clientes. Además, centralizará la información en una base de datos estructurada, reduciendo errores manuales y mejorando la eficiencia operativa.</a:t>
            </a:r>
            <a:endParaRPr sz="1600" b="0" i="0" u="none" strike="noStrike" cap="none">
              <a:solidFill>
                <a:schemeClr val="dk1"/>
              </a:solidFill>
              <a:latin typeface="Arial"/>
              <a:ea typeface="Arial"/>
              <a:cs typeface="Arial"/>
              <a:sym typeface="Arial"/>
            </a:endParaRPr>
          </a:p>
          <a:p>
            <a:pPr marL="0" marR="0" lvl="0" indent="450215" algn="just" rtl="0">
              <a:lnSpc>
                <a:spcPct val="150000"/>
              </a:lnSpc>
              <a:spcBef>
                <a:spcPts val="280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La implementación del sistema facilitará la administración del negocio mediante herramientas tecnológicas que mejoren el control, la organización y la disponibilidad de la información.</a:t>
            </a:r>
            <a:endParaRPr sz="1600" b="0" i="0" u="none" strike="noStrike" cap="none">
              <a:solidFill>
                <a:schemeClr val="dk1"/>
              </a:solidFill>
              <a:latin typeface="Arial"/>
              <a:ea typeface="Arial"/>
              <a:cs typeface="Arial"/>
              <a:sym typeface="Arial"/>
            </a:endParaRPr>
          </a:p>
          <a:p>
            <a:pPr marL="0" marR="0" lvl="0" indent="270510" algn="just" rtl="0">
              <a:lnSpc>
                <a:spcPct val="200000"/>
              </a:lnSpc>
              <a:spcBef>
                <a:spcPts val="280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pic>
        <p:nvPicPr>
          <p:cNvPr id="240" name="Google Shape;240;p10"/>
          <p:cNvPicPr preferRelativeResize="0"/>
          <p:nvPr/>
        </p:nvPicPr>
        <p:blipFill rotWithShape="1">
          <a:blip r:embed="rId3">
            <a:alphaModFix/>
          </a:blip>
          <a:srcRect t="7703"/>
          <a:stretch/>
        </p:blipFill>
        <p:spPr>
          <a:xfrm>
            <a:off x="4450050" y="4529324"/>
            <a:ext cx="3291899" cy="227666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3807556" y="2539470"/>
            <a:ext cx="457689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r>
              <a:rPr kumimoji="0" lang="es-CO" sz="6000" b="1" i="0" u="none" strike="noStrike" kern="1200" cap="none" spc="0" normalizeH="0" baseline="0" noProof="0" dirty="0">
                <a:ln>
                  <a:noFill/>
                </a:ln>
                <a:solidFill>
                  <a:prstClr val="white"/>
                </a:solidFill>
                <a:effectLst/>
                <a:uLnTx/>
                <a:uFillTx/>
                <a:latin typeface="Work Sans" pitchFamily="2" charset="0"/>
                <a:ea typeface="+mn-ea"/>
                <a:cs typeface="Arial"/>
                <a:sym typeface="Arial"/>
              </a:rPr>
              <a:t>OBJETIVOS</a:t>
            </a: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5613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0"/>
        <p:cNvGrpSpPr/>
        <p:nvPr/>
      </p:nvGrpSpPr>
      <p:grpSpPr>
        <a:xfrm>
          <a:off x="0" y="0"/>
          <a:ext cx="0" cy="0"/>
          <a:chOff x="0" y="0"/>
          <a:chExt cx="0" cy="0"/>
        </a:xfrm>
      </p:grpSpPr>
      <p:sp>
        <p:nvSpPr>
          <p:cNvPr id="251" name="Google Shape;251;p16"/>
          <p:cNvSpPr txBox="1"/>
          <p:nvPr/>
        </p:nvSpPr>
        <p:spPr>
          <a:xfrm>
            <a:off x="1021609" y="1449060"/>
            <a:ext cx="413141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dirty="0">
                <a:solidFill>
                  <a:srgbClr val="38AA00"/>
                </a:solidFill>
                <a:latin typeface="Work Sans"/>
                <a:ea typeface="Work Sans"/>
                <a:cs typeface="Work Sans"/>
                <a:sym typeface="Work Sans"/>
              </a:rPr>
              <a:t>Objetivo General</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3600"/>
              <a:buFont typeface="Calibri"/>
              <a:buNone/>
            </a:pPr>
            <a:endParaRPr sz="3600" b="1" i="0" u="none" strike="noStrike" cap="none" dirty="0">
              <a:solidFill>
                <a:srgbClr val="38AA00"/>
              </a:solidFill>
              <a:latin typeface="Work Sans"/>
              <a:ea typeface="Work Sans"/>
              <a:cs typeface="Work Sans"/>
              <a:sym typeface="Work Sans"/>
            </a:endParaRPr>
          </a:p>
        </p:txBody>
      </p:sp>
      <p:sp>
        <p:nvSpPr>
          <p:cNvPr id="252" name="Google Shape;252;p16"/>
          <p:cNvSpPr txBox="1"/>
          <p:nvPr/>
        </p:nvSpPr>
        <p:spPr>
          <a:xfrm>
            <a:off x="1021609" y="2440285"/>
            <a:ext cx="10053828" cy="1427955"/>
          </a:xfrm>
          <a:prstGeom prst="rect">
            <a:avLst/>
          </a:prstGeom>
          <a:noFill/>
          <a:ln>
            <a:noFill/>
          </a:ln>
        </p:spPr>
        <p:txBody>
          <a:bodyPr spcFirstLastPara="1" wrap="square" lIns="91425" tIns="45700" rIns="91425" bIns="45700" anchor="t" anchorCtr="0">
            <a:spAutoFit/>
          </a:bodyPr>
          <a:lstStyle/>
          <a:p>
            <a:pPr marL="0" marR="0" lvl="0" indent="534988" algn="just" rtl="0">
              <a:lnSpc>
                <a:spcPct val="150000"/>
              </a:lnSpc>
              <a:spcBef>
                <a:spcPts val="0"/>
              </a:spcBef>
              <a:spcAft>
                <a:spcPts val="0"/>
              </a:spcAft>
              <a:buClr>
                <a:srgbClr val="000000"/>
              </a:buClr>
              <a:buSzPts val="2000"/>
              <a:buFont typeface="Arial"/>
              <a:buNone/>
            </a:pPr>
            <a:r>
              <a:rPr lang="es-CO" sz="2000" b="0" i="0" u="none" strike="noStrike" cap="none">
                <a:solidFill>
                  <a:srgbClr val="000000"/>
                </a:solidFill>
                <a:latin typeface="Times New Roman"/>
                <a:ea typeface="Times New Roman"/>
                <a:cs typeface="Times New Roman"/>
                <a:sym typeface="Times New Roman"/>
              </a:rPr>
              <a:t>Desarrollar un aplicativo web para la gestión y comercialización de bicicletas y repuestos, que permita administrar clientes, inventario, ventas y empleados mediante procesos automatizados y centralizados.</a:t>
            </a:r>
            <a:endParaRPr sz="2000" b="0" i="0" u="none" strike="noStrike" cap="none">
              <a:solidFill>
                <a:schemeClr val="dk1"/>
              </a:solidFill>
              <a:latin typeface="Arial"/>
              <a:ea typeface="Arial"/>
              <a:cs typeface="Arial"/>
              <a:sym typeface="Arial"/>
            </a:endParaRPr>
          </a:p>
        </p:txBody>
      </p:sp>
      <p:cxnSp>
        <p:nvCxnSpPr>
          <p:cNvPr id="253" name="Google Shape;253;p16"/>
          <p:cNvCxnSpPr/>
          <p:nvPr/>
        </p:nvCxnSpPr>
        <p:spPr>
          <a:xfrm>
            <a:off x="1126707" y="2102687"/>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254" name="Google Shape;254;p16"/>
          <p:cNvPicPr preferRelativeResize="0"/>
          <p:nvPr/>
        </p:nvPicPr>
        <p:blipFill rotWithShape="1">
          <a:blip r:embed="rId4">
            <a:alphaModFix/>
          </a:blip>
          <a:srcRect t="23604" b="24423"/>
          <a:stretch/>
        </p:blipFill>
        <p:spPr>
          <a:xfrm>
            <a:off x="2328118" y="4182868"/>
            <a:ext cx="4159769" cy="2161948"/>
          </a:xfrm>
          <a:prstGeom prst="rect">
            <a:avLst/>
          </a:prstGeom>
          <a:noFill/>
          <a:ln>
            <a:noFill/>
          </a:ln>
        </p:spPr>
      </p:pic>
      <p:pic>
        <p:nvPicPr>
          <p:cNvPr id="255" name="Google Shape;255;p16" descr="Imagen de Story Pin"/>
          <p:cNvPicPr preferRelativeResize="0"/>
          <p:nvPr/>
        </p:nvPicPr>
        <p:blipFill rotWithShape="1">
          <a:blip r:embed="rId5">
            <a:alphaModFix/>
          </a:blip>
          <a:srcRect/>
          <a:stretch/>
        </p:blipFill>
        <p:spPr>
          <a:xfrm>
            <a:off x="6657393" y="4182868"/>
            <a:ext cx="1928325" cy="1928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7"/>
          <p:cNvSpPr txBox="1"/>
          <p:nvPr/>
        </p:nvSpPr>
        <p:spPr>
          <a:xfrm>
            <a:off x="910771" y="816485"/>
            <a:ext cx="567100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dirty="0">
                <a:solidFill>
                  <a:srgbClr val="38AA00"/>
                </a:solidFill>
                <a:latin typeface="Work Sans"/>
                <a:ea typeface="Work Sans"/>
                <a:cs typeface="Work Sans"/>
                <a:sym typeface="Work Sans"/>
              </a:rPr>
              <a:t>Objetivos Específicos</a:t>
            </a:r>
            <a:endParaRPr sz="1400" b="0" i="0" u="none" strike="noStrike" cap="none" dirty="0">
              <a:solidFill>
                <a:srgbClr val="000000"/>
              </a:solidFill>
              <a:latin typeface="Arial"/>
              <a:ea typeface="Arial"/>
              <a:cs typeface="Arial"/>
              <a:sym typeface="Arial"/>
            </a:endParaRPr>
          </a:p>
        </p:txBody>
      </p:sp>
      <p:cxnSp>
        <p:nvCxnSpPr>
          <p:cNvPr id="261" name="Google Shape;261;p17"/>
          <p:cNvCxnSpPr/>
          <p:nvPr/>
        </p:nvCxnSpPr>
        <p:spPr>
          <a:xfrm>
            <a:off x="1021609" y="1452563"/>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62" name="Google Shape;262;p17"/>
          <p:cNvSpPr txBox="1"/>
          <p:nvPr/>
        </p:nvSpPr>
        <p:spPr>
          <a:xfrm>
            <a:off x="910771" y="1572636"/>
            <a:ext cx="8981374" cy="3787191"/>
          </a:xfrm>
          <a:prstGeom prst="rect">
            <a:avLst/>
          </a:prstGeom>
          <a:noFill/>
          <a:ln>
            <a:noFill/>
          </a:ln>
        </p:spPr>
        <p:txBody>
          <a:bodyPr spcFirstLastPara="1" wrap="square" lIns="91425" tIns="45700" rIns="91425" bIns="45700" anchor="t" anchorCtr="0">
            <a:spAutoFit/>
          </a:bodyPr>
          <a:lstStyle/>
          <a:p>
            <a:pPr marL="268288" marR="0" lvl="3" indent="-268288" algn="just" rtl="0">
              <a:lnSpc>
                <a:spcPct val="150000"/>
              </a:lnSpc>
              <a:spcBef>
                <a:spcPts val="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 Diseñar e implementar un módulo de gestión de productos que permita crear, consultar, actualizar y eliminar los productos.</a:t>
            </a:r>
            <a:endParaRPr sz="1600" b="0" i="0" u="none" strike="noStrike" cap="none">
              <a:solidFill>
                <a:schemeClr val="dk1"/>
              </a:solidFill>
              <a:latin typeface="Arial"/>
              <a:ea typeface="Arial"/>
              <a:cs typeface="Arial"/>
              <a:sym typeface="Arial"/>
            </a:endParaRPr>
          </a:p>
          <a:p>
            <a:pPr marL="268288" marR="0" lvl="3" indent="-268288" algn="just" rtl="0">
              <a:lnSpc>
                <a:spcPct val="150000"/>
              </a:lnSpc>
              <a:spcBef>
                <a:spcPts val="80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 Desarrollar un módulo de registro y autenticación de usuarios con control de acceso según roles.</a:t>
            </a:r>
            <a:endParaRPr sz="1600" b="0" i="0" u="none" strike="noStrike" cap="none">
              <a:solidFill>
                <a:schemeClr val="dk1"/>
              </a:solidFill>
              <a:latin typeface="Arial"/>
              <a:ea typeface="Arial"/>
              <a:cs typeface="Arial"/>
              <a:sym typeface="Arial"/>
            </a:endParaRPr>
          </a:p>
          <a:p>
            <a:pPr marL="176213" marR="0" lvl="3" indent="-176213" algn="just" rtl="0">
              <a:lnSpc>
                <a:spcPct val="150000"/>
              </a:lnSpc>
              <a:spcBef>
                <a:spcPts val="80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  Implementar un sistema de gestión de clientes que almacene y organice la información de manera estructurada.</a:t>
            </a:r>
            <a:endParaRPr sz="1400" b="0" i="0" u="none" strike="noStrike" cap="none">
              <a:solidFill>
                <a:srgbClr val="000000"/>
              </a:solidFill>
              <a:latin typeface="Arial"/>
              <a:ea typeface="Arial"/>
              <a:cs typeface="Arial"/>
              <a:sym typeface="Arial"/>
            </a:endParaRPr>
          </a:p>
          <a:p>
            <a:pPr marL="342900" marR="0" lvl="3" indent="-342900" algn="just" rtl="0">
              <a:lnSpc>
                <a:spcPct val="150000"/>
              </a:lnSpc>
              <a:spcBef>
                <a:spcPts val="80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Agregar un módulo de gestión de empleados que permita el registro de horas y la automatización del cálculo de pagos para asegurar una gestión administrativa eficiente.</a:t>
            </a:r>
            <a:endParaRPr sz="1600" b="0" i="0" u="none" strike="noStrike" cap="none">
              <a:solidFill>
                <a:schemeClr val="dk1"/>
              </a:solidFill>
              <a:latin typeface="Arial"/>
              <a:ea typeface="Arial"/>
              <a:cs typeface="Arial"/>
              <a:sym typeface="Arial"/>
            </a:endParaRPr>
          </a:p>
          <a:p>
            <a:pPr marL="268288" marR="0" lvl="3" indent="-268288" algn="just" rtl="0">
              <a:lnSpc>
                <a:spcPct val="150000"/>
              </a:lnSpc>
              <a:spcBef>
                <a:spcPts val="800"/>
              </a:spcBef>
              <a:spcAft>
                <a:spcPts val="0"/>
              </a:spcAft>
              <a:buClr>
                <a:srgbClr val="000000"/>
              </a:buClr>
              <a:buSzPts val="1600"/>
              <a:buFont typeface="Calibri"/>
              <a:buAutoNum type="arabicPeriod"/>
            </a:pPr>
            <a:r>
              <a:rPr lang="es-CO" sz="1600" b="0" i="0" u="none" strike="noStrike" cap="none">
                <a:solidFill>
                  <a:srgbClr val="000000"/>
                </a:solidFill>
                <a:latin typeface="Times New Roman"/>
                <a:ea typeface="Times New Roman"/>
                <a:cs typeface="Times New Roman"/>
                <a:sym typeface="Times New Roman"/>
              </a:rPr>
              <a:t> Automatizar el proceso de registro de ventas y la generación de órdenes de salida, actualizando automáticamente el inventario.</a:t>
            </a:r>
            <a:endParaRPr sz="1600" b="0" i="0" u="none" strike="noStrike" cap="none">
              <a:solidFill>
                <a:schemeClr val="dk1"/>
              </a:solidFill>
              <a:latin typeface="Arial"/>
              <a:ea typeface="Arial"/>
              <a:cs typeface="Arial"/>
              <a:sym typeface="Arial"/>
            </a:endParaRPr>
          </a:p>
        </p:txBody>
      </p:sp>
      <p:pic>
        <p:nvPicPr>
          <p:cNvPr id="263" name="Google Shape;263;p17"/>
          <p:cNvPicPr preferRelativeResize="0"/>
          <p:nvPr/>
        </p:nvPicPr>
        <p:blipFill rotWithShape="1">
          <a:blip r:embed="rId3">
            <a:alphaModFix/>
          </a:blip>
          <a:srcRect/>
          <a:stretch/>
        </p:blipFill>
        <p:spPr>
          <a:xfrm>
            <a:off x="5069629" y="5119007"/>
            <a:ext cx="1590921" cy="159092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1129740" y="2539470"/>
            <a:ext cx="9932527" cy="1015663"/>
          </a:xfrm>
          <a:prstGeom prst="rect">
            <a:avLst/>
          </a:prstGeom>
          <a:noFill/>
        </p:spPr>
        <p:txBody>
          <a:bodyPr wrap="none" rtlCol="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dirty="0">
                <a:solidFill>
                  <a:srgbClr val="FFFFFF"/>
                </a:solidFill>
                <a:latin typeface="Work Sans"/>
                <a:ea typeface="Work Sans"/>
                <a:cs typeface="Work Sans"/>
                <a:sym typeface="Work Sans"/>
              </a:rPr>
              <a:t>ALCANCE DEL PROYECTO</a:t>
            </a:r>
            <a:endParaRPr lang="es-CO" sz="1400" b="0" i="0" u="none" strike="noStrike" cap="none" dirty="0">
              <a:solidFill>
                <a:srgbClr val="000000"/>
              </a:solidFill>
              <a:latin typeface="Arial"/>
              <a:ea typeface="Arial"/>
              <a:cs typeface="Arial"/>
              <a:sym typeface="Arial"/>
            </a:endParaRP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4973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2"/>
          <p:cNvSpPr txBox="1"/>
          <p:nvPr/>
        </p:nvSpPr>
        <p:spPr>
          <a:xfrm>
            <a:off x="762988" y="706118"/>
            <a:ext cx="5428262"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dirty="0">
                <a:solidFill>
                  <a:srgbClr val="38AA00"/>
                </a:solidFill>
                <a:latin typeface="Work Sans"/>
                <a:ea typeface="Work Sans"/>
                <a:cs typeface="Work Sans"/>
                <a:sym typeface="Work Sans"/>
              </a:rPr>
              <a:t>Alcance del Proyecto</a:t>
            </a:r>
            <a:endParaRPr sz="3600" b="1" i="0" u="none" strike="noStrike" cap="none" dirty="0">
              <a:solidFill>
                <a:srgbClr val="38AA00"/>
              </a:solidFill>
              <a:latin typeface="Work Sans"/>
              <a:ea typeface="Work Sans"/>
              <a:cs typeface="Work Sans"/>
              <a:sym typeface="Work Sans"/>
            </a:endParaRPr>
          </a:p>
          <a:p>
            <a:pPr marL="0" marR="0" lvl="0" indent="0" algn="l" rtl="0">
              <a:lnSpc>
                <a:spcPct val="90000"/>
              </a:lnSpc>
              <a:spcBef>
                <a:spcPts val="0"/>
              </a:spcBef>
              <a:spcAft>
                <a:spcPts val="0"/>
              </a:spcAft>
              <a:buClr>
                <a:schemeClr val="dk1"/>
              </a:buClr>
              <a:buSzPts val="3600"/>
              <a:buFont typeface="Calibri"/>
              <a:buNone/>
            </a:pPr>
            <a:endParaRPr sz="3600" b="1" i="0" u="none" strike="noStrike" cap="none" dirty="0">
              <a:solidFill>
                <a:srgbClr val="38AA00"/>
              </a:solidFill>
              <a:latin typeface="Work Sans"/>
              <a:ea typeface="Work Sans"/>
              <a:cs typeface="Work Sans"/>
              <a:sym typeface="Work Sans"/>
            </a:endParaRPr>
          </a:p>
        </p:txBody>
      </p:sp>
      <p:cxnSp>
        <p:nvCxnSpPr>
          <p:cNvPr id="275" name="Google Shape;275;p12"/>
          <p:cNvCxnSpPr/>
          <p:nvPr/>
        </p:nvCxnSpPr>
        <p:spPr>
          <a:xfrm>
            <a:off x="892300" y="1361504"/>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276" name="Google Shape;276;p12"/>
          <p:cNvSpPr txBox="1"/>
          <p:nvPr/>
        </p:nvSpPr>
        <p:spPr>
          <a:xfrm>
            <a:off x="992977" y="1450173"/>
            <a:ext cx="7651338" cy="5083443"/>
          </a:xfrm>
          <a:prstGeom prst="rect">
            <a:avLst/>
          </a:prstGeom>
          <a:noFill/>
          <a:ln>
            <a:noFill/>
          </a:ln>
        </p:spPr>
        <p:txBody>
          <a:bodyPr spcFirstLastPara="1" wrap="square" lIns="91425" tIns="45700" rIns="91425" bIns="45700" anchor="t" anchorCtr="0">
            <a:spAutoFit/>
          </a:bodyPr>
          <a:lstStyle/>
          <a:p>
            <a:pPr marL="457200" marR="0" lvl="1" indent="0" algn="l" rtl="0">
              <a:lnSpc>
                <a:spcPct val="100000"/>
              </a:lnSpc>
              <a:spcBef>
                <a:spcPts val="0"/>
              </a:spcBef>
              <a:spcAft>
                <a:spcPts val="0"/>
              </a:spcAft>
              <a:buClr>
                <a:srgbClr val="000000"/>
              </a:buClr>
              <a:buSzPts val="1800"/>
              <a:buFont typeface="Arial"/>
              <a:buNone/>
            </a:pPr>
            <a:r>
              <a:rPr lang="es-CO" sz="1800" b="1" i="0" u="none" strike="noStrike" cap="none">
                <a:solidFill>
                  <a:srgbClr val="000000"/>
                </a:solidFill>
                <a:latin typeface="Times New Roman"/>
                <a:ea typeface="Times New Roman"/>
                <a:cs typeface="Times New Roman"/>
                <a:sym typeface="Times New Roman"/>
              </a:rPr>
              <a:t>El aplicativo permitirá</a:t>
            </a:r>
            <a:endParaRPr sz="1800" b="1"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Registro, edición y eliminación de productos.</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Visualización del catálogo digital.</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Registro y autenticación de usuarios.</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Registro de clientes.</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Gestión de ventas.</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Control automático del inventario.</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Generación de órdenes de salida.</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Panel administrativo para la gestión del sistema.</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Calcular el salario de los empleados por horas trabajadas.</a:t>
            </a:r>
            <a:endParaRPr sz="1500" b="0" i="0" u="none" strike="noStrike" cap="none">
              <a:solidFill>
                <a:srgbClr val="000000"/>
              </a:solidFill>
              <a:latin typeface="Times New Roman"/>
              <a:ea typeface="Times New Roman"/>
              <a:cs typeface="Times New Roman"/>
              <a:sym typeface="Times New Roman"/>
            </a:endParaRPr>
          </a:p>
          <a:p>
            <a:pPr marL="457200" marR="0" lvl="1" indent="0" algn="l" rtl="0">
              <a:lnSpc>
                <a:spcPct val="100000"/>
              </a:lnSpc>
              <a:spcBef>
                <a:spcPts val="1600"/>
              </a:spcBef>
              <a:spcAft>
                <a:spcPts val="0"/>
              </a:spcAft>
              <a:buClr>
                <a:srgbClr val="000000"/>
              </a:buClr>
              <a:buSzPts val="1800"/>
              <a:buFont typeface="Arial"/>
              <a:buNone/>
            </a:pPr>
            <a:r>
              <a:rPr lang="es-CO" sz="1800" b="1" i="0" u="none" strike="noStrike" cap="none">
                <a:solidFill>
                  <a:srgbClr val="000000"/>
                </a:solidFill>
                <a:latin typeface="Times New Roman"/>
                <a:ea typeface="Times New Roman"/>
                <a:cs typeface="Times New Roman"/>
                <a:sym typeface="Times New Roman"/>
              </a:rPr>
              <a:t>El aplicativo no incluirá</a:t>
            </a:r>
            <a:endParaRPr sz="1800" b="1"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Desarrollo de aplicación móvil.</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Integración con pasarelas de pago en línea.</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Facturación electrónica.</a:t>
            </a:r>
            <a:endParaRPr sz="15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800"/>
              </a:spcBef>
              <a:spcAft>
                <a:spcPts val="0"/>
              </a:spcAft>
              <a:buClr>
                <a:srgbClr val="000000"/>
              </a:buClr>
              <a:buSzPts val="1000"/>
              <a:buFont typeface="Arial"/>
              <a:buChar char="●"/>
            </a:pPr>
            <a:r>
              <a:rPr lang="es-CO" sz="1500" b="0" i="0" u="none" strike="noStrike" cap="none">
                <a:solidFill>
                  <a:srgbClr val="000000"/>
                </a:solidFill>
                <a:latin typeface="Times New Roman"/>
                <a:ea typeface="Times New Roman"/>
                <a:cs typeface="Times New Roman"/>
                <a:sym typeface="Times New Roman"/>
              </a:rPr>
              <a:t>Integración con redes sociales.</a:t>
            </a:r>
            <a:endParaRPr sz="1500" b="0" i="0" u="none" strike="noStrike" cap="none">
              <a:solidFill>
                <a:srgbClr val="000000"/>
              </a:solidFill>
              <a:latin typeface="Times New Roman"/>
              <a:ea typeface="Times New Roman"/>
              <a:cs typeface="Times New Roman"/>
              <a:sym typeface="Times New Roman"/>
            </a:endParaRPr>
          </a:p>
        </p:txBody>
      </p:sp>
      <p:pic>
        <p:nvPicPr>
          <p:cNvPr id="277" name="Google Shape;277;p12" descr="Imagen de Story Pin"/>
          <p:cNvPicPr preferRelativeResize="0"/>
          <p:nvPr/>
        </p:nvPicPr>
        <p:blipFill rotWithShape="1">
          <a:blip r:embed="rId3">
            <a:alphaModFix/>
          </a:blip>
          <a:srcRect/>
          <a:stretch/>
        </p:blipFill>
        <p:spPr>
          <a:xfrm>
            <a:off x="6499174" y="1497564"/>
            <a:ext cx="5016274" cy="386287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4847905" y="2539470"/>
            <a:ext cx="2496196" cy="1015663"/>
          </a:xfrm>
          <a:prstGeom prst="rect">
            <a:avLst/>
          </a:prstGeom>
          <a:noFill/>
        </p:spPr>
        <p:txBody>
          <a:bodyPr wrap="none" rtlCol="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dirty="0">
                <a:solidFill>
                  <a:srgbClr val="FFFFFF"/>
                </a:solidFill>
                <a:latin typeface="Work Sans"/>
                <a:ea typeface="Work Sans"/>
                <a:cs typeface="Work Sans"/>
                <a:sym typeface="Work Sans"/>
              </a:rPr>
              <a:t>BPMN</a:t>
            </a: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658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4"/>
          <p:cNvSpPr txBox="1"/>
          <p:nvPr/>
        </p:nvSpPr>
        <p:spPr>
          <a:xfrm>
            <a:off x="836879" y="744075"/>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BPMN</a:t>
            </a:r>
            <a:endParaRPr sz="1400" b="0" i="0" u="none" strike="noStrike" cap="none">
              <a:solidFill>
                <a:srgbClr val="000000"/>
              </a:solidFill>
              <a:latin typeface="Arial"/>
              <a:ea typeface="Arial"/>
              <a:cs typeface="Arial"/>
              <a:sym typeface="Arial"/>
            </a:endParaRPr>
          </a:p>
        </p:txBody>
      </p:sp>
      <p:cxnSp>
        <p:nvCxnSpPr>
          <p:cNvPr id="289" name="Google Shape;289;p14"/>
          <p:cNvCxnSpPr/>
          <p:nvPr/>
        </p:nvCxnSpPr>
        <p:spPr>
          <a:xfrm>
            <a:off x="975428" y="1420673"/>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290" name="Google Shape;290;p14">
            <a:hlinkClick r:id="rId3"/>
          </p:cNvPr>
          <p:cNvPicPr preferRelativeResize="0"/>
          <p:nvPr/>
        </p:nvPicPr>
        <p:blipFill rotWithShape="1">
          <a:blip r:embed="rId4">
            <a:alphaModFix/>
          </a:blip>
          <a:srcRect/>
          <a:stretch/>
        </p:blipFill>
        <p:spPr>
          <a:xfrm>
            <a:off x="975428" y="1884999"/>
            <a:ext cx="9689767" cy="4703579"/>
          </a:xfrm>
          <a:prstGeom prst="rect">
            <a:avLst/>
          </a:prstGeom>
          <a:noFill/>
          <a:ln>
            <a:noFill/>
          </a:ln>
        </p:spPr>
      </p:pic>
      <p:sp>
        <p:nvSpPr>
          <p:cNvPr id="291" name="Google Shape;291;p14"/>
          <p:cNvSpPr txBox="1"/>
          <p:nvPr/>
        </p:nvSpPr>
        <p:spPr>
          <a:xfrm>
            <a:off x="975428" y="1515667"/>
            <a:ext cx="81996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O" sz="1800" b="0" i="0" u="none" strike="noStrike" cap="none">
                <a:solidFill>
                  <a:srgbClr val="000000"/>
                </a:solidFill>
                <a:latin typeface="Times New Roman"/>
                <a:ea typeface="Times New Roman"/>
                <a:cs typeface="Times New Roman"/>
                <a:sym typeface="Times New Roman"/>
              </a:rPr>
              <a:t>Este diagrama muestra el funcionamiento actual de la bicicletería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631628" y="2191332"/>
            <a:ext cx="10928743" cy="1754326"/>
          </a:xfrm>
          <a:prstGeom prst="rect">
            <a:avLst/>
          </a:prstGeom>
          <a:noFill/>
        </p:spPr>
        <p:txBody>
          <a:bodyPr wrap="square" rtlCol="0">
            <a:spAutoFit/>
          </a:bodyPr>
          <a:lstStyle/>
          <a:p>
            <a:pPr marL="0" marR="0" lvl="0" indent="0" algn="ctr" rtl="0">
              <a:lnSpc>
                <a:spcPct val="100000"/>
              </a:lnSpc>
              <a:spcBef>
                <a:spcPts val="0"/>
              </a:spcBef>
              <a:spcAft>
                <a:spcPts val="0"/>
              </a:spcAft>
              <a:buClr>
                <a:srgbClr val="FFFFFF"/>
              </a:buClr>
              <a:buSzPts val="6000"/>
              <a:buFont typeface="Work Sans"/>
              <a:buNone/>
            </a:pPr>
            <a:r>
              <a:rPr lang="es-CO" sz="5400" b="1" i="0" u="none" strike="noStrike" cap="none" dirty="0">
                <a:solidFill>
                  <a:srgbClr val="FFFFFF"/>
                </a:solidFill>
                <a:latin typeface="Work Sans"/>
                <a:ea typeface="Work Sans"/>
                <a:cs typeface="Work Sans"/>
                <a:sym typeface="Work Sans"/>
              </a:rPr>
              <a:t>LEVANTAMIENTO DE INFORMACIÓN</a:t>
            </a:r>
            <a:endParaRPr lang="es-CO" sz="5400" b="0" i="0" u="none" strike="noStrike" cap="none" dirty="0">
              <a:solidFill>
                <a:srgbClr val="000000"/>
              </a:solidFill>
              <a:latin typeface="Arial"/>
              <a:ea typeface="Arial"/>
              <a:cs typeface="Arial"/>
              <a:sym typeface="Arial"/>
            </a:endParaRP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4972228" y="3945658"/>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221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9"/>
          <p:cNvSpPr txBox="1"/>
          <p:nvPr/>
        </p:nvSpPr>
        <p:spPr>
          <a:xfrm>
            <a:off x="984004" y="57554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Informe Observación</a:t>
            </a:r>
            <a:endParaRPr sz="1400" b="0" i="0" u="none" strike="noStrike" cap="none">
              <a:solidFill>
                <a:srgbClr val="000000"/>
              </a:solidFill>
              <a:latin typeface="Arial"/>
              <a:ea typeface="Arial"/>
              <a:cs typeface="Arial"/>
              <a:sym typeface="Arial"/>
            </a:endParaRPr>
          </a:p>
        </p:txBody>
      </p:sp>
      <p:cxnSp>
        <p:nvCxnSpPr>
          <p:cNvPr id="303" name="Google Shape;303;p19"/>
          <p:cNvCxnSpPr/>
          <p:nvPr/>
        </p:nvCxnSpPr>
        <p:spPr>
          <a:xfrm>
            <a:off x="1095971" y="1145001"/>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304" name="Google Shape;304;p19"/>
          <p:cNvSpPr txBox="1"/>
          <p:nvPr/>
        </p:nvSpPr>
        <p:spPr>
          <a:xfrm>
            <a:off x="1095971" y="1359907"/>
            <a:ext cx="9419629" cy="484940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Tipo de negocio: </a:t>
            </a:r>
            <a:r>
              <a:rPr lang="es-CO" sz="1600" b="0" i="0" u="none" strike="noStrike" cap="none">
                <a:solidFill>
                  <a:srgbClr val="000000"/>
                </a:solidFill>
                <a:latin typeface="Times New Roman"/>
                <a:ea typeface="Times New Roman"/>
                <a:cs typeface="Times New Roman"/>
                <a:sym typeface="Times New Roman"/>
              </a:rPr>
              <a:t>Venta de bicicletas y sus repuestos, con servicio de mantenimiento.</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Cantidad de empleados: </a:t>
            </a:r>
            <a:r>
              <a:rPr lang="es-CO" sz="1600" b="0" i="0" u="none" strike="noStrike" cap="none">
                <a:solidFill>
                  <a:srgbClr val="000000"/>
                </a:solidFill>
                <a:latin typeface="Times New Roman"/>
                <a:ea typeface="Times New Roman"/>
                <a:cs typeface="Times New Roman"/>
                <a:sym typeface="Times New Roman"/>
              </a:rPr>
              <a:t>2</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Medios de comunicación: </a:t>
            </a:r>
            <a:r>
              <a:rPr lang="es-CO" sz="1600" b="0" i="0" u="none" strike="noStrike" cap="none">
                <a:solidFill>
                  <a:srgbClr val="000000"/>
                </a:solidFill>
                <a:latin typeface="Times New Roman"/>
                <a:ea typeface="Times New Roman"/>
                <a:cs typeface="Times New Roman"/>
                <a:sym typeface="Times New Roman"/>
              </a:rPr>
              <a:t>WhatsApp.</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ventas: </a:t>
            </a:r>
            <a:r>
              <a:rPr lang="es-CO" sz="1600" b="0" i="0" u="none" strike="noStrike" cap="none">
                <a:solidFill>
                  <a:srgbClr val="000000"/>
                </a:solidFill>
                <a:latin typeface="Times New Roman"/>
                <a:ea typeface="Times New Roman"/>
                <a:cs typeface="Times New Roman"/>
                <a:sym typeface="Times New Roman"/>
              </a:rPr>
              <a:t>De manera manual ingresando nombre y precio del producto vendido.</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productos: </a:t>
            </a:r>
            <a:r>
              <a:rPr lang="es-CO" sz="1600" b="0" i="0" u="none" strike="noStrike" cap="none">
                <a:solidFill>
                  <a:srgbClr val="000000"/>
                </a:solidFill>
                <a:latin typeface="Times New Roman"/>
                <a:ea typeface="Times New Roman"/>
                <a:cs typeface="Times New Roman"/>
                <a:sym typeface="Times New Roman"/>
              </a:rPr>
              <a:t>Se registra de manera manual, incluyendo precio de compra y venta.</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Clientes: </a:t>
            </a:r>
            <a:r>
              <a:rPr lang="es-CO" sz="1600" b="0" i="0" u="none" strike="noStrike" cap="none">
                <a:solidFill>
                  <a:srgbClr val="000000"/>
                </a:solidFill>
                <a:latin typeface="Times New Roman"/>
                <a:ea typeface="Times New Roman"/>
                <a:cs typeface="Times New Roman"/>
                <a:sym typeface="Times New Roman"/>
              </a:rPr>
              <a:t>Se atiende únicamente en el punto físico, mayormente el servicio más pedido es el de mantenimiento.</a:t>
            </a:r>
            <a:endParaRPr sz="1400" b="0" i="0" u="none" strike="noStrike" cap="none">
              <a:solidFill>
                <a:srgbClr val="000000"/>
              </a:solidFill>
              <a:latin typeface="Arial"/>
              <a:ea typeface="Arial"/>
              <a:cs typeface="Arial"/>
              <a:sym typeface="Arial"/>
            </a:endParaRPr>
          </a:p>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Se identificaron diversos aspectos del negocio incluidos los datos generales y de funcionamiento de la empresa. Además, se hallaron varias problemáticas que el aplicativo podría solucionar.</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ventas: </a:t>
            </a:r>
            <a:r>
              <a:rPr lang="es-CO" sz="1600" b="0" i="0" u="none" strike="noStrike" cap="none">
                <a:solidFill>
                  <a:srgbClr val="000000"/>
                </a:solidFill>
                <a:latin typeface="Times New Roman"/>
                <a:ea typeface="Times New Roman"/>
                <a:cs typeface="Times New Roman"/>
                <a:sym typeface="Times New Roman"/>
              </a:rPr>
              <a:t>Implementar un registro de ventas, donde se agregue el nombre y precio del producto.</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productos: </a:t>
            </a:r>
            <a:r>
              <a:rPr lang="es-CO" sz="1600" b="0" i="0" u="none" strike="noStrike" cap="none">
                <a:solidFill>
                  <a:srgbClr val="000000"/>
                </a:solidFill>
                <a:latin typeface="Times New Roman"/>
                <a:ea typeface="Times New Roman"/>
                <a:cs typeface="Times New Roman"/>
                <a:sym typeface="Times New Roman"/>
              </a:rPr>
              <a:t>Agregar un módulo de gestión de inventario, que permita ingresar el nombre, precio de compra y venta, referencia y existencias.</a:t>
            </a:r>
            <a:r>
              <a:rPr lang="es-CO" sz="1600" b="1"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Comunicación clientes: </a:t>
            </a:r>
            <a:r>
              <a:rPr lang="es-CO" sz="1600" b="0" i="0" u="none" strike="noStrike" cap="none">
                <a:solidFill>
                  <a:srgbClr val="000000"/>
                </a:solidFill>
                <a:latin typeface="Times New Roman"/>
                <a:ea typeface="Times New Roman"/>
                <a:cs typeface="Times New Roman"/>
                <a:sym typeface="Times New Roman"/>
              </a:rPr>
              <a:t>Mostrar redes sociales a través de la página web.</a:t>
            </a:r>
            <a:endParaRPr sz="1400" b="0" i="0" u="none" strike="noStrike" cap="none">
              <a:solidFill>
                <a:srgbClr val="000000"/>
              </a:solidFill>
              <a:latin typeface="Arial"/>
              <a:ea typeface="Arial"/>
              <a:cs typeface="Arial"/>
              <a:sym typeface="Arial"/>
            </a:endParaRPr>
          </a:p>
        </p:txBody>
      </p:sp>
      <p:pic>
        <p:nvPicPr>
          <p:cNvPr id="305" name="Google Shape;305;p19" descr="Imagen de Story Pin">
            <a:hlinkClick r:id="rId3"/>
          </p:cNvPr>
          <p:cNvPicPr preferRelativeResize="0"/>
          <p:nvPr/>
        </p:nvPicPr>
        <p:blipFill rotWithShape="1">
          <a:blip r:embed="rId4">
            <a:alphaModFix/>
          </a:blip>
          <a:srcRect/>
          <a:stretch/>
        </p:blipFill>
        <p:spPr>
          <a:xfrm>
            <a:off x="9805107" y="1698461"/>
            <a:ext cx="1348273" cy="1348273"/>
          </a:xfrm>
          <a:prstGeom prst="rect">
            <a:avLst/>
          </a:prstGeom>
          <a:noFill/>
          <a:ln>
            <a:noFill/>
          </a:ln>
        </p:spPr>
      </p:pic>
      <p:sp>
        <p:nvSpPr>
          <p:cNvPr id="306" name="Google Shape;306;p19"/>
          <p:cNvSpPr txBox="1"/>
          <p:nvPr/>
        </p:nvSpPr>
        <p:spPr>
          <a:xfrm>
            <a:off x="9862459" y="1252138"/>
            <a:ext cx="123357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Link Word</a:t>
            </a:r>
            <a:endParaRPr sz="16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0"/>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Informe Entrevista</a:t>
            </a:r>
            <a:endParaRPr sz="1400" b="0" i="0" u="none" strike="noStrike" cap="none">
              <a:solidFill>
                <a:srgbClr val="000000"/>
              </a:solidFill>
              <a:latin typeface="Arial"/>
              <a:ea typeface="Arial"/>
              <a:cs typeface="Arial"/>
              <a:sym typeface="Arial"/>
            </a:endParaRPr>
          </a:p>
        </p:txBody>
      </p:sp>
      <p:cxnSp>
        <p:nvCxnSpPr>
          <p:cNvPr id="312" name="Google Shape;312;p20"/>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313" name="Google Shape;313;p20"/>
          <p:cNvSpPr txBox="1"/>
          <p:nvPr/>
        </p:nvSpPr>
        <p:spPr>
          <a:xfrm>
            <a:off x="974674" y="1401533"/>
            <a:ext cx="10596487" cy="4813497"/>
          </a:xfrm>
          <a:prstGeom prst="rect">
            <a:avLst/>
          </a:prstGeom>
          <a:noFill/>
          <a:ln>
            <a:noFill/>
          </a:ln>
        </p:spPr>
        <p:txBody>
          <a:bodyPr spcFirstLastPara="1" wrap="square" lIns="91425" tIns="45700" rIns="91425" bIns="45700" anchor="t" anchorCtr="0">
            <a:spAutoFit/>
          </a:bodyPr>
          <a:lstStyle/>
          <a:p>
            <a:pPr marL="0" marR="0" lvl="0" indent="360045" algn="just" rtl="0">
              <a:lnSpc>
                <a:spcPct val="10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Dirigida al administrador principal para </a:t>
            </a:r>
            <a:r>
              <a:rPr lang="es-CO" sz="1800" b="0" i="0" u="none" strike="noStrike" cap="none">
                <a:solidFill>
                  <a:srgbClr val="000000"/>
                </a:solidFill>
                <a:latin typeface="Times New Roman"/>
                <a:ea typeface="Times New Roman"/>
                <a:cs typeface="Times New Roman"/>
                <a:sym typeface="Times New Roman"/>
              </a:rPr>
              <a:t>conocer </a:t>
            </a:r>
            <a:r>
              <a:rPr lang="es-CO" sz="1600" b="0" i="0" u="none" strike="noStrike" cap="none">
                <a:solidFill>
                  <a:srgbClr val="000000"/>
                </a:solidFill>
                <a:latin typeface="Times New Roman"/>
                <a:ea typeface="Times New Roman"/>
                <a:cs typeface="Times New Roman"/>
                <a:sym typeface="Times New Roman"/>
              </a:rPr>
              <a:t>el funcionamiento actual de la empresa, identificar dificultades en los procesos y determinar cómo el aplicativo web puede optimizar la gestión del negocio y mejorar la experiencia de sus clientes.</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14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Se abastece cada 3-8 días.</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Dirigido principalmente: </a:t>
            </a:r>
            <a:r>
              <a:rPr lang="es-CO" sz="1600" b="0" i="0" u="none" strike="noStrike" cap="none">
                <a:solidFill>
                  <a:srgbClr val="000000"/>
                </a:solidFill>
                <a:latin typeface="Times New Roman"/>
                <a:ea typeface="Times New Roman"/>
                <a:cs typeface="Times New Roman"/>
                <a:sym typeface="Times New Roman"/>
              </a:rPr>
              <a:t>Administradores, pero también habrá secciones para clientes.</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Procesos manuales: </a:t>
            </a:r>
            <a:r>
              <a:rPr lang="es-CO" sz="1600" b="0" i="0" u="none" strike="noStrike" cap="none">
                <a:solidFill>
                  <a:srgbClr val="000000"/>
                </a:solidFill>
                <a:latin typeface="Times New Roman"/>
                <a:ea typeface="Times New Roman"/>
                <a:cs typeface="Times New Roman"/>
                <a:sym typeface="Times New Roman"/>
              </a:rPr>
              <a:t>Gestión inventario, ventas, facturación y cálculos de ganancias y de pago a empleados.</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Productos más vendidos: </a:t>
            </a:r>
            <a:r>
              <a:rPr lang="es-CO" sz="1600" b="0" i="0" u="none" strike="noStrike" cap="none">
                <a:solidFill>
                  <a:srgbClr val="000000"/>
                </a:solidFill>
                <a:latin typeface="Times New Roman"/>
                <a:ea typeface="Times New Roman"/>
                <a:cs typeface="Times New Roman"/>
                <a:sym typeface="Times New Roman"/>
              </a:rPr>
              <a:t>Pachas. descarriladores y cadenas.</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de inventario:</a:t>
            </a:r>
            <a:r>
              <a:rPr lang="es-CO" sz="1600" b="0" i="0" u="none" strike="noStrike" cap="none">
                <a:solidFill>
                  <a:srgbClr val="000000"/>
                </a:solidFill>
                <a:latin typeface="Times New Roman"/>
                <a:ea typeface="Times New Roman"/>
                <a:cs typeface="Times New Roman"/>
                <a:sym typeface="Times New Roman"/>
              </a:rPr>
              <a:t> Organizado de manera alfabética.</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Mayores proveedores: </a:t>
            </a:r>
            <a:r>
              <a:rPr lang="es-CO" sz="1600" b="0" i="0" u="none" strike="noStrike" cap="none">
                <a:solidFill>
                  <a:srgbClr val="000000"/>
                </a:solidFill>
                <a:latin typeface="Times New Roman"/>
                <a:ea typeface="Times New Roman"/>
                <a:cs typeface="Times New Roman"/>
                <a:sym typeface="Times New Roman"/>
              </a:rPr>
              <a:t>H.A, Jireth y Ciclopista.</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Medios de comunicación: </a:t>
            </a:r>
            <a:r>
              <a:rPr lang="es-CO" sz="1600" b="0" i="0" u="none" strike="noStrike" cap="none">
                <a:solidFill>
                  <a:srgbClr val="000000"/>
                </a:solidFill>
                <a:latin typeface="Times New Roman"/>
                <a:ea typeface="Times New Roman"/>
                <a:cs typeface="Times New Roman"/>
                <a:sym typeface="Times New Roman"/>
              </a:rPr>
              <a:t>WhatsApp.</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Expectativas: </a:t>
            </a:r>
            <a:r>
              <a:rPr lang="es-CO" sz="1600" b="0" i="0" u="none" strike="noStrike" cap="none">
                <a:solidFill>
                  <a:srgbClr val="000000"/>
                </a:solidFill>
                <a:latin typeface="Times New Roman"/>
                <a:ea typeface="Times New Roman"/>
                <a:cs typeface="Times New Roman"/>
                <a:sym typeface="Times New Roman"/>
              </a:rPr>
              <a:t>Ahorro de tiempo y mayor orden.</a:t>
            </a:r>
            <a:endParaRPr sz="1400" b="0" i="0" u="none" strike="noStrike" cap="none">
              <a:solidFill>
                <a:srgbClr val="000000"/>
              </a:solidFill>
              <a:latin typeface="Arial"/>
              <a:ea typeface="Arial"/>
              <a:cs typeface="Arial"/>
              <a:sym typeface="Arial"/>
            </a:endParaRPr>
          </a:p>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Mediante este instrumento de recolección de información se identificaron diversas dificultades que, a su vez, representan oportunidades de mejora. En este contexto, el aplicativo propuesto brindará una solución directa al transformar tareas manuales en flujos digitales más eficientes, optimizando así los procesos y contribuyendo a una gestión más ágil y organizada.</a:t>
            </a:r>
            <a:endParaRPr sz="1400" b="0" i="0" u="none" strike="noStrike" cap="none">
              <a:solidFill>
                <a:srgbClr val="000000"/>
              </a:solidFill>
              <a:latin typeface="Arial"/>
              <a:ea typeface="Arial"/>
              <a:cs typeface="Arial"/>
              <a:sym typeface="Arial"/>
            </a:endParaRPr>
          </a:p>
        </p:txBody>
      </p:sp>
      <p:pic>
        <p:nvPicPr>
          <p:cNvPr id="314" name="Google Shape;314;p20">
            <a:hlinkClick r:id="rId3"/>
          </p:cNvPr>
          <p:cNvPicPr preferRelativeResize="0"/>
          <p:nvPr/>
        </p:nvPicPr>
        <p:blipFill rotWithShape="1">
          <a:blip r:embed="rId4">
            <a:alphaModFix/>
          </a:blip>
          <a:srcRect l="3561" t="11473" b="3358"/>
          <a:stretch/>
        </p:blipFill>
        <p:spPr>
          <a:xfrm>
            <a:off x="8864082" y="3552261"/>
            <a:ext cx="1772816" cy="1565652"/>
          </a:xfrm>
          <a:prstGeom prst="rect">
            <a:avLst/>
          </a:prstGeom>
          <a:noFill/>
          <a:ln>
            <a:noFill/>
          </a:ln>
        </p:spPr>
      </p:pic>
      <p:sp>
        <p:nvSpPr>
          <p:cNvPr id="315" name="Google Shape;315;p20"/>
          <p:cNvSpPr txBox="1"/>
          <p:nvPr/>
        </p:nvSpPr>
        <p:spPr>
          <a:xfrm>
            <a:off x="8943392" y="3259723"/>
            <a:ext cx="1614196"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Entrevista aquí</a:t>
            </a:r>
            <a:endParaRPr sz="16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1"/>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Encuesta</a:t>
            </a:r>
            <a:endParaRPr sz="1400" b="0" i="0" u="none" strike="noStrike" cap="none">
              <a:solidFill>
                <a:srgbClr val="000000"/>
              </a:solidFill>
              <a:latin typeface="Arial"/>
              <a:ea typeface="Arial"/>
              <a:cs typeface="Arial"/>
              <a:sym typeface="Arial"/>
            </a:endParaRPr>
          </a:p>
        </p:txBody>
      </p:sp>
      <p:cxnSp>
        <p:nvCxnSpPr>
          <p:cNvPr id="321" name="Google Shape;321;p2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322" name="Google Shape;322;p21"/>
          <p:cNvSpPr txBox="1"/>
          <p:nvPr/>
        </p:nvSpPr>
        <p:spPr>
          <a:xfrm>
            <a:off x="974674" y="1457959"/>
            <a:ext cx="10596487" cy="4757071"/>
          </a:xfrm>
          <a:prstGeom prst="rect">
            <a:avLst/>
          </a:prstGeom>
          <a:noFill/>
          <a:ln>
            <a:noFill/>
          </a:ln>
        </p:spPr>
        <p:txBody>
          <a:bodyPr spcFirstLastPara="1" wrap="square" lIns="91425" tIns="45700" rIns="91425" bIns="45700" anchor="t" anchorCtr="0">
            <a:spAutoFit/>
          </a:bodyPr>
          <a:lstStyle/>
          <a:p>
            <a:pPr marL="0" marR="0" lvl="0" indent="360045" algn="just" rtl="0">
              <a:lnSpc>
                <a:spcPct val="10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Esta encuesta está dirigida a los clientes con el objetivo de identificar sus hábitos de compra y sus preferencias. La información recopilada permitirá obtener datos relevantes que servirán como base para el desarrollo del aplicativo web.</a:t>
            </a:r>
            <a:endParaRPr sz="1400" b="0" i="0" u="none" strike="noStrike" cap="none">
              <a:solidFill>
                <a:srgbClr val="000000"/>
              </a:solidFill>
              <a:latin typeface="Arial"/>
              <a:ea typeface="Arial"/>
              <a:cs typeface="Arial"/>
              <a:sym typeface="Arial"/>
            </a:endParaRPr>
          </a:p>
          <a:p>
            <a:pPr marL="0" marR="0" lvl="0" indent="360045" algn="just" rtl="0">
              <a:lnSpc>
                <a:spcPct val="100000"/>
              </a:lnSpc>
              <a:spcBef>
                <a:spcPts val="60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Algunas de las preguntas son:</a:t>
            </a:r>
            <a:endParaRPr sz="1400" b="0" i="0" u="none" strike="noStrike" cap="none">
              <a:solidFill>
                <a:srgbClr val="000000"/>
              </a:solidFill>
              <a:latin typeface="Arial"/>
              <a:ea typeface="Arial"/>
              <a:cs typeface="Arial"/>
              <a:sym typeface="Arial"/>
            </a:endParaRPr>
          </a:p>
          <a:p>
            <a:pPr marL="0" marR="0" lvl="0" indent="360045" algn="just" rtl="0">
              <a:lnSpc>
                <a:spcPct val="100000"/>
              </a:lnSpc>
              <a:spcBef>
                <a:spcPts val="60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6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¿Prefiere comprar en línea o en tienda física?</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¿Qué factor es más importante al comprar?</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¿Por cuál medio le gustaría recibir promociones, descuentos, avisos y demás?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¿Ha tenido inconvenientes con disponibilidad de productos?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¿Con que frecuencia compra bicicletas, repuestos o accesorios?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¿Desde qué dispositivo electrónico realiza compras en línea con más frecuencia?</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 ¿Qué aspecto le llamaría la atención para comprar más seguido en una página de venta de bicicletas?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¿Es importante para usted ver las reseñas de otros clientes acerca de los productos?</a:t>
            </a:r>
            <a:endParaRPr sz="1400" b="0" i="0" u="none" strike="noStrike" cap="none">
              <a:solidFill>
                <a:srgbClr val="000000"/>
              </a:solidFill>
              <a:latin typeface="Arial"/>
              <a:ea typeface="Arial"/>
              <a:cs typeface="Arial"/>
              <a:sym typeface="Arial"/>
            </a:endParaRPr>
          </a:p>
          <a:p>
            <a:pPr marL="0" marR="0" lvl="0" indent="450215" algn="just" rtl="0">
              <a:lnSpc>
                <a:spcPct val="150000"/>
              </a:lnSpc>
              <a:spcBef>
                <a:spcPts val="60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p:txBody>
      </p:sp>
      <p:pic>
        <p:nvPicPr>
          <p:cNvPr id="323" name="Google Shape;323;p21">
            <a:hlinkClick r:id="rId3"/>
          </p:cNvPr>
          <p:cNvPicPr preferRelativeResize="0"/>
          <p:nvPr/>
        </p:nvPicPr>
        <p:blipFill rotWithShape="1">
          <a:blip r:embed="rId4">
            <a:alphaModFix/>
          </a:blip>
          <a:srcRect/>
          <a:stretch/>
        </p:blipFill>
        <p:spPr>
          <a:xfrm>
            <a:off x="8958326" y="2586909"/>
            <a:ext cx="2351114" cy="2351114"/>
          </a:xfrm>
          <a:prstGeom prst="rect">
            <a:avLst/>
          </a:prstGeom>
          <a:noFill/>
          <a:ln>
            <a:noFill/>
          </a:ln>
        </p:spPr>
      </p:pic>
      <p:sp>
        <p:nvSpPr>
          <p:cNvPr id="324" name="Google Shape;324;p21"/>
          <p:cNvSpPr txBox="1"/>
          <p:nvPr/>
        </p:nvSpPr>
        <p:spPr>
          <a:xfrm>
            <a:off x="9356271" y="2106386"/>
            <a:ext cx="1584710"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Encuesta aquí</a:t>
            </a:r>
            <a:endParaRPr sz="16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2"/>
          <p:cNvSpPr txBox="1"/>
          <p:nvPr/>
        </p:nvSpPr>
        <p:spPr>
          <a:xfrm>
            <a:off x="939045" y="870833"/>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Análisis</a:t>
            </a:r>
            <a:endParaRPr sz="1400" b="0" i="0" u="none" strike="noStrike" cap="none">
              <a:solidFill>
                <a:srgbClr val="000000"/>
              </a:solidFill>
              <a:latin typeface="Arial"/>
              <a:ea typeface="Arial"/>
              <a:cs typeface="Arial"/>
              <a:sym typeface="Arial"/>
            </a:endParaRPr>
          </a:p>
        </p:txBody>
      </p:sp>
      <p:cxnSp>
        <p:nvCxnSpPr>
          <p:cNvPr id="330" name="Google Shape;330;p22"/>
          <p:cNvCxnSpPr/>
          <p:nvPr/>
        </p:nvCxnSpPr>
        <p:spPr>
          <a:xfrm>
            <a:off x="1049318" y="1403544"/>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331" name="Google Shape;331;p22"/>
          <p:cNvSpPr txBox="1"/>
          <p:nvPr/>
        </p:nvSpPr>
        <p:spPr>
          <a:xfrm>
            <a:off x="1049318" y="1845598"/>
            <a:ext cx="10324698" cy="2633413"/>
          </a:xfrm>
          <a:prstGeom prst="rect">
            <a:avLst/>
          </a:prstGeom>
          <a:noFill/>
          <a:ln>
            <a:noFill/>
          </a:ln>
        </p:spPr>
        <p:txBody>
          <a:bodyPr spcFirstLastPara="1" wrap="square" lIns="91425" tIns="45700" rIns="91425" bIns="45700" anchor="t" anchorCtr="0">
            <a:spAutoFit/>
          </a:bodyPr>
          <a:lstStyle/>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El análisis del negocio evidenció que algunos procesos, como la gestión del inventario y el registro de ventas, se realizan de forma manual, lo que puede ocasionar errores, pérdida de información y dificultades para mantener un control actualizado. Como solución, se propone implementar un panel de administración que permita gestionar el inventario de manera organizada y registrar las ventas diariamente, facilitando conocer la disponibilidad de productos y los artículos más vendidos. Además, se identificó que el negocio solo cuenta con un canal de comunicación con los clientes. Para mejorar la atención, se plantea ampliar los canales mediante el uso de más redes sociales y el aplicativo que se desarrollará, permitiendo una interacción más rápida y eficiente.</a:t>
            </a:r>
            <a:endParaRPr sz="1400" b="0" i="0" u="none" strike="noStrike" cap="none">
              <a:solidFill>
                <a:srgbClr val="000000"/>
              </a:solidFill>
              <a:latin typeface="Arial"/>
              <a:ea typeface="Arial"/>
              <a:cs typeface="Arial"/>
              <a:sym typeface="Arial"/>
            </a:endParaRPr>
          </a:p>
        </p:txBody>
      </p:sp>
      <p:pic>
        <p:nvPicPr>
          <p:cNvPr id="332" name="Google Shape;332;p22"/>
          <p:cNvPicPr preferRelativeResize="0"/>
          <p:nvPr/>
        </p:nvPicPr>
        <p:blipFill rotWithShape="1">
          <a:blip r:embed="rId3">
            <a:alphaModFix/>
          </a:blip>
          <a:srcRect/>
          <a:stretch/>
        </p:blipFill>
        <p:spPr>
          <a:xfrm>
            <a:off x="5028161" y="4479011"/>
            <a:ext cx="2135678" cy="213567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2523547" y="2539470"/>
            <a:ext cx="7144905" cy="1015663"/>
          </a:xfrm>
          <a:prstGeom prst="rect">
            <a:avLst/>
          </a:prstGeom>
          <a:noFill/>
        </p:spPr>
        <p:txBody>
          <a:bodyPr wrap="none" rtlCol="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dirty="0">
                <a:solidFill>
                  <a:srgbClr val="FFFFFF"/>
                </a:solidFill>
                <a:latin typeface="Work Sans"/>
                <a:ea typeface="Work Sans"/>
                <a:cs typeface="Work Sans"/>
                <a:sym typeface="Work Sans"/>
              </a:rPr>
              <a:t>REQUERIMIENTOS</a:t>
            </a: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169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4"/>
          <p:cNvSpPr txBox="1"/>
          <p:nvPr/>
        </p:nvSpPr>
        <p:spPr>
          <a:xfrm>
            <a:off x="887261" y="207169"/>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Requerimientos</a:t>
            </a:r>
            <a:r>
              <a:rPr lang="es-CO" sz="3600" b="1" i="0" u="sng" strike="noStrike" cap="none">
                <a:solidFill>
                  <a:srgbClr val="00B05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 </a:t>
            </a: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Funcionales</a:t>
            </a:r>
            <a:endParaRPr sz="3600" b="1" i="0" u="none" strike="noStrike" cap="none">
              <a:solidFill>
                <a:srgbClr val="38AA00"/>
              </a:solidFill>
              <a:latin typeface="Work Sans"/>
              <a:ea typeface="Work Sans"/>
              <a:cs typeface="Work Sans"/>
              <a:sym typeface="Work Sans"/>
            </a:endParaRPr>
          </a:p>
        </p:txBody>
      </p:sp>
      <p:cxnSp>
        <p:nvCxnSpPr>
          <p:cNvPr id="344" name="Google Shape;344;p24"/>
          <p:cNvCxnSpPr/>
          <p:nvPr/>
        </p:nvCxnSpPr>
        <p:spPr>
          <a:xfrm>
            <a:off x="981206" y="730864"/>
            <a:ext cx="1425934" cy="0"/>
          </a:xfrm>
          <a:prstGeom prst="straightConnector1">
            <a:avLst/>
          </a:prstGeom>
          <a:noFill/>
          <a:ln w="12700" cap="flat" cmpd="sng">
            <a:solidFill>
              <a:srgbClr val="4D4D4C"/>
            </a:solidFill>
            <a:prstDash val="solid"/>
            <a:miter lim="800000"/>
            <a:headEnd type="none" w="sm" len="sm"/>
            <a:tailEnd type="none" w="sm" len="sm"/>
          </a:ln>
        </p:spPr>
      </p:cxnSp>
      <p:graphicFrame>
        <p:nvGraphicFramePr>
          <p:cNvPr id="345" name="Google Shape;345;p24"/>
          <p:cNvGraphicFramePr/>
          <p:nvPr/>
        </p:nvGraphicFramePr>
        <p:xfrm>
          <a:off x="342972" y="802125"/>
          <a:ext cx="11506050" cy="5996125"/>
        </p:xfrm>
        <a:graphic>
          <a:graphicData uri="http://schemas.openxmlformats.org/drawingml/2006/table">
            <a:tbl>
              <a:tblPr firstRow="1" bandRow="1">
                <a:noFill/>
                <a:tableStyleId>{1F7C81F0-EF78-42B9-8A88-19DE12DBAE76}</a:tableStyleId>
              </a:tblPr>
              <a:tblGrid>
                <a:gridCol w="5753025">
                  <a:extLst>
                    <a:ext uri="{9D8B030D-6E8A-4147-A177-3AD203B41FA5}">
                      <a16:colId xmlns:a16="http://schemas.microsoft.com/office/drawing/2014/main" val="20000"/>
                    </a:ext>
                  </a:extLst>
                </a:gridCol>
                <a:gridCol w="5753025">
                  <a:extLst>
                    <a:ext uri="{9D8B030D-6E8A-4147-A177-3AD203B41FA5}">
                      <a16:colId xmlns:a16="http://schemas.microsoft.com/office/drawing/2014/main" val="20001"/>
                    </a:ext>
                  </a:extLst>
                </a:gridCol>
              </a:tblGrid>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 El sistema debe permitir registrar un usuario administrador.</a:t>
                      </a:r>
                      <a:endParaRPr sz="1350" b="1" u="none" strike="noStrike" cap="none">
                        <a:solidFill>
                          <a:schemeClr val="dk1"/>
                        </a:solidFill>
                        <a:latin typeface="Calibri"/>
                        <a:ea typeface="Calibri"/>
                        <a:cs typeface="Calibri"/>
                        <a:sym typeface="Calibri"/>
                      </a:endParaRPr>
                    </a:p>
                  </a:txBody>
                  <a:tcPr marL="91450" marR="91450" marT="45725" marB="45725">
                    <a:solidFill>
                      <a:srgbClr val="E8F3E1"/>
                    </a:solidFill>
                  </a:tcPr>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RF13. El sistema debe permitir mostrar el catálogo de productos en la página web.</a:t>
                      </a:r>
                      <a:endParaRPr sz="1400" u="none" strike="noStrike" cap="none"/>
                    </a:p>
                  </a:txBody>
                  <a:tcPr marL="91450" marR="91450" marT="45725" marB="45725">
                    <a:solidFill>
                      <a:srgbClr val="E1EFD8"/>
                    </a:solidFill>
                  </a:tcPr>
                </a:tc>
                <a:extLst>
                  <a:ext uri="{0D108BD9-81ED-4DB2-BD59-A6C34878D82A}">
                    <a16:rowId xmlns:a16="http://schemas.microsoft.com/office/drawing/2014/main" val="10000"/>
                  </a:ext>
                </a:extLst>
              </a:tr>
              <a:tr h="551925">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RF2. El sistema debe permitir iniciar sesión al administrador mediante usuario y contraseña.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RF14. El sistema debe permitir mostrar descripción de cada producto.</a:t>
                      </a:r>
                      <a:endParaRPr sz="1400" u="none" strike="noStrike" cap="none"/>
                    </a:p>
                  </a:txBody>
                  <a:tcPr marL="91450" marR="91450" marT="45725" marB="45725"/>
                </a:tc>
                <a:extLst>
                  <a:ext uri="{0D108BD9-81ED-4DB2-BD59-A6C34878D82A}">
                    <a16:rowId xmlns:a16="http://schemas.microsoft.com/office/drawing/2014/main" val="10001"/>
                  </a:ext>
                </a:extLst>
              </a:tr>
              <a:tr h="394250">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a:solidFill>
                            <a:schemeClr val="dk1"/>
                          </a:solidFill>
                          <a:latin typeface="Calibri"/>
                          <a:ea typeface="Calibri"/>
                          <a:cs typeface="Calibri"/>
                          <a:sym typeface="Calibri"/>
                        </a:rPr>
                        <a:t>RF3. El sistema debe permitir cerrar sesión del sistema.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RF15. El sistema debe permitir mostrar el precio de los productos.</a:t>
                      </a:r>
                      <a:endParaRPr sz="1400" u="none" strike="noStrike" cap="none"/>
                    </a:p>
                  </a:txBody>
                  <a:tcPr marL="91450" marR="91450" marT="45725" marB="45725"/>
                </a:tc>
                <a:extLst>
                  <a:ext uri="{0D108BD9-81ED-4DB2-BD59-A6C34878D82A}">
                    <a16:rowId xmlns:a16="http://schemas.microsoft.com/office/drawing/2014/main" val="10002"/>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RF4. El sistema debe permitir registrar productos (bicicletas y repuestos).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RF16. El sistema debe permitir mostrar imágenes de los productos.</a:t>
                      </a:r>
                      <a:endParaRPr sz="1400" u="none" strike="noStrike" cap="none"/>
                    </a:p>
                  </a:txBody>
                  <a:tcPr marL="91450" marR="91450" marT="45725" marB="45725"/>
                </a:tc>
                <a:extLst>
                  <a:ext uri="{0D108BD9-81ED-4DB2-BD59-A6C34878D82A}">
                    <a16:rowId xmlns:a16="http://schemas.microsoft.com/office/drawing/2014/main" val="10003"/>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RF5. El sistema debe permitir editar la información de los productos.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RF17. El sistema debe permitir mostrar si el producto está disponible o agotado.</a:t>
                      </a:r>
                      <a:endParaRPr sz="1400" u="none" strike="noStrike" cap="none"/>
                    </a:p>
                  </a:txBody>
                  <a:tcPr marL="91450" marR="91450" marT="45725" marB="45725"/>
                </a:tc>
                <a:extLst>
                  <a:ext uri="{0D108BD9-81ED-4DB2-BD59-A6C34878D82A}">
                    <a16:rowId xmlns:a16="http://schemas.microsoft.com/office/drawing/2014/main" val="10004"/>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RF6. El sistema debe permitir eliminar productos del inventario.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RF18. El sistema debe permitir redirigir al cliente a WhatsApp para consultas o compras.</a:t>
                      </a:r>
                      <a:endParaRPr sz="1400" u="none" strike="noStrike" cap="none"/>
                    </a:p>
                  </a:txBody>
                  <a:tcPr marL="91450" marR="91450" marT="45725" marB="45725"/>
                </a:tc>
                <a:extLst>
                  <a:ext uri="{0D108BD9-81ED-4DB2-BD59-A6C34878D82A}">
                    <a16:rowId xmlns:a16="http://schemas.microsoft.com/office/drawing/2014/main" val="10005"/>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RF7. El sistema debe permitir visualizar todos los productos registrados.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a:solidFill>
                            <a:schemeClr val="dk1"/>
                          </a:solidFill>
                          <a:latin typeface="Calibri"/>
                          <a:ea typeface="Calibri"/>
                          <a:cs typeface="Calibri"/>
                          <a:sym typeface="Calibri"/>
                        </a:rPr>
                        <a:t>RF19. El sistema debe permitir mostrar enlaces a redes sociales del negocio.</a:t>
                      </a:r>
                      <a:endParaRPr sz="1350" b="1" u="none" strike="noStrike" cap="none">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6"/>
                  </a:ext>
                </a:extLst>
              </a:tr>
              <a:tr h="39425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RF8. El sistema debe permitir ordenar los productos alfabéticamente.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RF20. El sistema debe permitir registrar empleados del negocio.</a:t>
                      </a:r>
                      <a:endParaRPr sz="1400" u="none" strike="noStrike" cap="none"/>
                    </a:p>
                  </a:txBody>
                  <a:tcPr marL="91450" marR="91450" marT="45725" marB="45725"/>
                </a:tc>
                <a:extLst>
                  <a:ext uri="{0D108BD9-81ED-4DB2-BD59-A6C34878D82A}">
                    <a16:rowId xmlns:a16="http://schemas.microsoft.com/office/drawing/2014/main" val="10007"/>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RF9. El sistema debe permitir buscar productos por nombre.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RF21. El sistema debe permitir registrar las horas trabajadas por cada empleado.</a:t>
                      </a:r>
                      <a:endParaRPr sz="1400" u="none" strike="noStrike" cap="none"/>
                    </a:p>
                  </a:txBody>
                  <a:tcPr marL="91450" marR="91450" marT="45725" marB="45725"/>
                </a:tc>
                <a:extLst>
                  <a:ext uri="{0D108BD9-81ED-4DB2-BD59-A6C34878D82A}">
                    <a16:rowId xmlns:a16="http://schemas.microsoft.com/office/drawing/2014/main" val="10008"/>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RF10. El sistema debe permitir clasificar productos por categoría (bicicletas, repuestos, accesorios).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RF22. El sistema debe permitir calcular el pago de los empleados según horas trabajadas.</a:t>
                      </a:r>
                      <a:endParaRPr sz="1400" u="none" strike="noStrike" cap="none"/>
                    </a:p>
                  </a:txBody>
                  <a:tcPr marL="91450" marR="91450" marT="45725" marB="45725"/>
                </a:tc>
                <a:extLst>
                  <a:ext uri="{0D108BD9-81ED-4DB2-BD59-A6C34878D82A}">
                    <a16:rowId xmlns:a16="http://schemas.microsoft.com/office/drawing/2014/main" val="10009"/>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RF11. El sistema debe permitir registrar la cantidad disponible de cada producto.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a:solidFill>
                            <a:schemeClr val="dk1"/>
                          </a:solidFill>
                          <a:latin typeface="Calibri"/>
                          <a:ea typeface="Calibri"/>
                          <a:cs typeface="Calibri"/>
                          <a:sym typeface="Calibri"/>
                        </a:rPr>
                        <a:t>RF23. El sistema debe permitir consultar el historial de horas trabajadas por empleado.</a:t>
                      </a:r>
                      <a:endParaRPr sz="1350" b="1" u="none" strike="noStrike" cap="none">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10"/>
                  </a:ext>
                </a:extLst>
              </a:tr>
              <a:tr h="517300">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a:solidFill>
                            <a:schemeClr val="dk1"/>
                          </a:solidFill>
                          <a:latin typeface="Calibri"/>
                          <a:ea typeface="Calibri"/>
                          <a:cs typeface="Calibri"/>
                          <a:sym typeface="Calibri"/>
                        </a:rPr>
                        <a:t>RF12. El sistema debe permitir actualizar el stock cuando se agreguen o retiren productos.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a:solidFill>
                            <a:schemeClr val="dk1"/>
                          </a:solidFill>
                          <a:latin typeface="Calibri"/>
                          <a:ea typeface="Calibri"/>
                          <a:cs typeface="Calibri"/>
                          <a:sym typeface="Calibri"/>
                        </a:rPr>
                        <a:t>RF24. El sistema debe permitir editar la información de los empleados registrados.</a:t>
                      </a:r>
                      <a:endParaRPr sz="1350" b="1" u="none" strike="noStrike" cap="none">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1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5"/>
          <p:cNvSpPr txBox="1"/>
          <p:nvPr/>
        </p:nvSpPr>
        <p:spPr>
          <a:xfrm>
            <a:off x="678207" y="315020"/>
            <a:ext cx="8075268"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sng" strike="noStrike" cap="none" dirty="0">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Requerimientos No Funcionales</a:t>
            </a:r>
            <a:endParaRPr sz="3600" b="1" i="0" u="none" strike="noStrike" cap="none" dirty="0">
              <a:solidFill>
                <a:srgbClr val="38AA00"/>
              </a:solidFill>
              <a:latin typeface="Work Sans"/>
              <a:ea typeface="Work Sans"/>
              <a:cs typeface="Work Sans"/>
              <a:sym typeface="Work Sans"/>
            </a:endParaRPr>
          </a:p>
        </p:txBody>
      </p:sp>
      <p:cxnSp>
        <p:nvCxnSpPr>
          <p:cNvPr id="351" name="Google Shape;351;p25"/>
          <p:cNvCxnSpPr/>
          <p:nvPr/>
        </p:nvCxnSpPr>
        <p:spPr>
          <a:xfrm>
            <a:off x="799152" y="902287"/>
            <a:ext cx="1425934" cy="0"/>
          </a:xfrm>
          <a:prstGeom prst="straightConnector1">
            <a:avLst/>
          </a:prstGeom>
          <a:noFill/>
          <a:ln w="12700" cap="flat" cmpd="sng">
            <a:solidFill>
              <a:srgbClr val="4D4D4C"/>
            </a:solidFill>
            <a:prstDash val="solid"/>
            <a:miter lim="800000"/>
            <a:headEnd type="none" w="sm" len="sm"/>
            <a:tailEnd type="none" w="sm" len="sm"/>
          </a:ln>
        </p:spPr>
      </p:cxnSp>
      <p:graphicFrame>
        <p:nvGraphicFramePr>
          <p:cNvPr id="352" name="Google Shape;352;p25"/>
          <p:cNvGraphicFramePr/>
          <p:nvPr/>
        </p:nvGraphicFramePr>
        <p:xfrm>
          <a:off x="518173" y="954940"/>
          <a:ext cx="11155650" cy="5844800"/>
        </p:xfrm>
        <a:graphic>
          <a:graphicData uri="http://schemas.openxmlformats.org/drawingml/2006/table">
            <a:tbl>
              <a:tblPr firstRow="1" bandRow="1">
                <a:noFill/>
                <a:tableStyleId>{1F7C81F0-EF78-42B9-8A88-19DE12DBAE76}</a:tableStyleId>
              </a:tblPr>
              <a:tblGrid>
                <a:gridCol w="5654525">
                  <a:extLst>
                    <a:ext uri="{9D8B030D-6E8A-4147-A177-3AD203B41FA5}">
                      <a16:colId xmlns:a16="http://schemas.microsoft.com/office/drawing/2014/main" val="20000"/>
                    </a:ext>
                  </a:extLst>
                </a:gridCol>
                <a:gridCol w="5501125">
                  <a:extLst>
                    <a:ext uri="{9D8B030D-6E8A-4147-A177-3AD203B41FA5}">
                      <a16:colId xmlns:a16="http://schemas.microsoft.com/office/drawing/2014/main" val="20001"/>
                    </a:ext>
                  </a:extLst>
                </a:gridCol>
              </a:tblGrid>
              <a:tr h="500675">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 El sistema debe ser comprensible para usuarios sin conocimientos técnicos.</a:t>
                      </a:r>
                      <a:endParaRPr sz="1450" b="1" u="none" strike="noStrike" cap="none">
                        <a:solidFill>
                          <a:schemeClr val="dk1"/>
                        </a:solidFill>
                        <a:latin typeface="Calibri"/>
                        <a:ea typeface="Calibri"/>
                        <a:cs typeface="Calibri"/>
                        <a:sym typeface="Calibri"/>
                      </a:endParaRPr>
                    </a:p>
                  </a:txBody>
                  <a:tcPr marL="91450" marR="91450" marT="45725" marB="45725">
                    <a:solidFill>
                      <a:srgbClr val="E1EFD8"/>
                    </a:solidFill>
                  </a:tcPr>
                </a:tc>
                <a:tc>
                  <a:txBody>
                    <a:bodyPr/>
                    <a:lstStyle/>
                    <a:p>
                      <a:pPr marL="0" marR="0" lvl="0" indent="0" algn="l" rtl="0">
                        <a:lnSpc>
                          <a:spcPct val="100000"/>
                        </a:lnSpc>
                        <a:spcBef>
                          <a:spcPts val="0"/>
                        </a:spcBef>
                        <a:spcAft>
                          <a:spcPts val="0"/>
                        </a:spcAft>
                        <a:buClr>
                          <a:schemeClr val="dk1"/>
                        </a:buClr>
                        <a:buSzPts val="1450"/>
                        <a:buFont typeface="Calibri"/>
                        <a:buNone/>
                      </a:pPr>
                      <a:r>
                        <a:rPr lang="es-CO" sz="1450" b="1" u="none" strike="noStrike" cap="none">
                          <a:solidFill>
                            <a:schemeClr val="dk1"/>
                          </a:solidFill>
                          <a:latin typeface="Calibri"/>
                          <a:ea typeface="Calibri"/>
                          <a:cs typeface="Calibri"/>
                          <a:sym typeface="Calibri"/>
                        </a:rPr>
                        <a:t>RNF12. El sistema debe ser compatible con Chrome, Edge y Firefox.</a:t>
                      </a:r>
                      <a:endParaRPr sz="1400" u="none" strike="noStrike" cap="none"/>
                    </a:p>
                  </a:txBody>
                  <a:tcPr marL="91450" marR="91450" marT="45725" marB="45725">
                    <a:solidFill>
                      <a:srgbClr val="E1EFD8"/>
                    </a:solidFill>
                  </a:tcPr>
                </a:tc>
                <a:extLst>
                  <a:ext uri="{0D108BD9-81ED-4DB2-BD59-A6C34878D82A}">
                    <a16:rowId xmlns:a16="http://schemas.microsoft.com/office/drawing/2014/main" val="10000"/>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 La profundidad de clics para llegar a un producto no debe ser mayor a 3 clics.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RNF13. El sistema debe permitir actualizar fácilmente la información del negocio.</a:t>
                      </a:r>
                      <a:endParaRPr sz="1400" u="none" strike="noStrike" cap="none"/>
                    </a:p>
                  </a:txBody>
                  <a:tcPr marL="91450" marR="91450" marT="45725" marB="45725"/>
                </a:tc>
                <a:extLst>
                  <a:ext uri="{0D108BD9-81ED-4DB2-BD59-A6C34878D82A}">
                    <a16:rowId xmlns:a16="http://schemas.microsoft.com/office/drawing/2014/main" val="10001"/>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RNF3. El sistema debe cargar cada página en menos de 3 segundos.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RNF14. El sistema debe permitir realizar mantenimiento sin afectar los datos.</a:t>
                      </a:r>
                      <a:endParaRPr sz="1400" u="none" strike="noStrike" cap="none"/>
                    </a:p>
                  </a:txBody>
                  <a:tcPr marL="91450" marR="91450" marT="45725" marB="45725"/>
                </a:tc>
                <a:extLst>
                  <a:ext uri="{0D108BD9-81ED-4DB2-BD59-A6C34878D82A}">
                    <a16:rowId xmlns:a16="http://schemas.microsoft.com/office/drawing/2014/main" val="10002"/>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RNF4. Permitir filtrado de productos por nombre y categoría.</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RNF15. El sistema debe permitir agregar nuevos productos sin afectar el rendimiento.</a:t>
                      </a:r>
                      <a:endParaRPr sz="1400" u="none" strike="noStrike" cap="none"/>
                    </a:p>
                  </a:txBody>
                  <a:tcPr marL="91450" marR="91450" marT="45725" marB="45725"/>
                </a:tc>
                <a:extLst>
                  <a:ext uri="{0D108BD9-81ED-4DB2-BD59-A6C34878D82A}">
                    <a16:rowId xmlns:a16="http://schemas.microsoft.com/office/drawing/2014/main" val="10003"/>
                  </a:ext>
                </a:extLst>
              </a:tr>
              <a:tr h="500675">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RNF5. El sistema debe proteger el acceso mediante usuario y contraseña.</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RNF16. El sistema debe permitir agregar más empleados al sistema.</a:t>
                      </a:r>
                      <a:endParaRPr sz="1400" u="none" strike="noStrike" cap="none"/>
                    </a:p>
                  </a:txBody>
                  <a:tcPr marL="91450" marR="91450" marT="45725" marB="45725"/>
                </a:tc>
                <a:extLst>
                  <a:ext uri="{0D108BD9-81ED-4DB2-BD59-A6C34878D82A}">
                    <a16:rowId xmlns:a16="http://schemas.microsoft.com/office/drawing/2014/main" val="10004"/>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RNF6. Solo los administradores deben modificar información del sistema.</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RNF17. El sistema debe guardar correctamente la información registrada.</a:t>
                      </a:r>
                      <a:endParaRPr sz="1400" u="none" strike="noStrike" cap="none"/>
                    </a:p>
                  </a:txBody>
                  <a:tcPr marL="91450" marR="91450" marT="45725" marB="45725"/>
                </a:tc>
                <a:extLst>
                  <a:ext uri="{0D108BD9-81ED-4DB2-BD59-A6C34878D82A}">
                    <a16:rowId xmlns:a16="http://schemas.microsoft.com/office/drawing/2014/main" val="10005"/>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RNF7. El sistema debe proteger los datos almacenados en la base de datos.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RNF18. El sistema debe evitar pérdida de datos en caso de errores.</a:t>
                      </a:r>
                      <a:endParaRPr sz="1400" u="none" strike="noStrike" cap="none"/>
                    </a:p>
                  </a:txBody>
                  <a:tcPr marL="91450" marR="91450" marT="45725" marB="45725"/>
                </a:tc>
                <a:extLst>
                  <a:ext uri="{0D108BD9-81ED-4DB2-BD59-A6C34878D82A}">
                    <a16:rowId xmlns:a16="http://schemas.microsoft.com/office/drawing/2014/main" val="10006"/>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RNF9. La plataforma debe estar disponible 24 horas al día.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RNF19. El sistema debe tener diseño adaptable (responsive).</a:t>
                      </a:r>
                      <a:endParaRPr sz="1400" u="none" strike="noStrike" cap="none"/>
                    </a:p>
                  </a:txBody>
                  <a:tcPr marL="91450" marR="91450" marT="45725" marB="45725"/>
                </a:tc>
                <a:extLst>
                  <a:ext uri="{0D108BD9-81ED-4DB2-BD59-A6C34878D82A}">
                    <a16:rowId xmlns:a16="http://schemas.microsoft.com/office/drawing/2014/main" val="10007"/>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RNF10. El sistema debe permitir acceso desde internet.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RNF20. El sistema debe tener una estructura visual clara para los productos.</a:t>
                      </a:r>
                      <a:endParaRPr sz="1400" u="none" strike="noStrike" cap="none"/>
                    </a:p>
                  </a:txBody>
                  <a:tcPr marL="91450" marR="91450" marT="45725" marB="45725"/>
                </a:tc>
                <a:extLst>
                  <a:ext uri="{0D108BD9-81ED-4DB2-BD59-A6C34878D82A}">
                    <a16:rowId xmlns:a16="http://schemas.microsoft.com/office/drawing/2014/main" val="10008"/>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RNF10. En caso de una falla crítica en el servidor, el sistema debe tener un tiempo de recuperación máximo de 4 horas.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RNF21. El sistema debe permitir integración con enlaces de WhatsApp.</a:t>
                      </a:r>
                      <a:endParaRPr sz="1400" u="none" strike="noStrike" cap="none"/>
                    </a:p>
                  </a:txBody>
                  <a:tcPr marL="91450" marR="91450" marT="45725" marB="45725"/>
                </a:tc>
                <a:extLst>
                  <a:ext uri="{0D108BD9-81ED-4DB2-BD59-A6C34878D82A}">
                    <a16:rowId xmlns:a16="http://schemas.microsoft.com/office/drawing/2014/main" val="10009"/>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RNF11. El sistema debe funcionar en computadores y teléfonos móviles.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RNF22. El sistema debe permitir integración con redes sociales del negocio.</a:t>
                      </a:r>
                      <a:endParaRPr sz="1400" u="none" strike="noStrike" cap="none"/>
                    </a:p>
                  </a:txBody>
                  <a:tcPr marL="91450" marR="91450" marT="45725" marB="45725"/>
                </a:tc>
                <a:extLst>
                  <a:ext uri="{0D108BD9-81ED-4DB2-BD59-A6C34878D82A}">
                    <a16:rowId xmlns:a16="http://schemas.microsoft.com/office/drawing/2014/main" val="1001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6"/>
          <p:cNvSpPr txBox="1"/>
          <p:nvPr/>
        </p:nvSpPr>
        <p:spPr>
          <a:xfrm>
            <a:off x="678207" y="338757"/>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Historias De Usuarios</a:t>
            </a:r>
            <a:endParaRPr sz="3600" b="1" i="0" u="none" strike="noStrike" cap="none">
              <a:solidFill>
                <a:srgbClr val="38AA00"/>
              </a:solidFill>
              <a:latin typeface="Work Sans"/>
              <a:ea typeface="Work Sans"/>
              <a:cs typeface="Work Sans"/>
              <a:sym typeface="Work Sans"/>
            </a:endParaRPr>
          </a:p>
        </p:txBody>
      </p:sp>
      <p:cxnSp>
        <p:nvCxnSpPr>
          <p:cNvPr id="358" name="Google Shape;358;p26"/>
          <p:cNvCxnSpPr/>
          <p:nvPr/>
        </p:nvCxnSpPr>
        <p:spPr>
          <a:xfrm>
            <a:off x="799152" y="885959"/>
            <a:ext cx="1425934" cy="0"/>
          </a:xfrm>
          <a:prstGeom prst="straightConnector1">
            <a:avLst/>
          </a:prstGeom>
          <a:noFill/>
          <a:ln w="12700" cap="flat" cmpd="sng">
            <a:solidFill>
              <a:srgbClr val="4D4D4C"/>
            </a:solidFill>
            <a:prstDash val="solid"/>
            <a:miter lim="800000"/>
            <a:headEnd type="none" w="sm" len="sm"/>
            <a:tailEnd type="none" w="sm" len="sm"/>
          </a:ln>
        </p:spPr>
      </p:cxnSp>
      <p:graphicFrame>
        <p:nvGraphicFramePr>
          <p:cNvPr id="359" name="Google Shape;359;p26"/>
          <p:cNvGraphicFramePr/>
          <p:nvPr/>
        </p:nvGraphicFramePr>
        <p:xfrm>
          <a:off x="204107" y="898070"/>
          <a:ext cx="11886275" cy="5822100"/>
        </p:xfrm>
        <a:graphic>
          <a:graphicData uri="http://schemas.openxmlformats.org/drawingml/2006/table">
            <a:tbl>
              <a:tblPr>
                <a:noFill/>
                <a:tableStyleId>{7BE4FD28-A62C-4A31-9E86-F0C727AD1519}</a:tableStyleId>
              </a:tblPr>
              <a:tblGrid>
                <a:gridCol w="5771675">
                  <a:extLst>
                    <a:ext uri="{9D8B030D-6E8A-4147-A177-3AD203B41FA5}">
                      <a16:colId xmlns:a16="http://schemas.microsoft.com/office/drawing/2014/main" val="20000"/>
                    </a:ext>
                  </a:extLst>
                </a:gridCol>
                <a:gridCol w="6114600">
                  <a:extLst>
                    <a:ext uri="{9D8B030D-6E8A-4147-A177-3AD203B41FA5}">
                      <a16:colId xmlns:a16="http://schemas.microsoft.com/office/drawing/2014/main" val="20001"/>
                    </a:ext>
                  </a:extLst>
                </a:gridCol>
              </a:tblGrid>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 Como administrador quiero registrar un usuario administrador para poder gestionar el sistema.</a:t>
                      </a:r>
                      <a:endParaRPr sz="1400" u="none" strike="noStrike" cap="none"/>
                    </a:p>
                  </a:txBody>
                  <a:tcPr marL="91450" marR="91450" marT="45725" marB="45725" anchor="ctr">
                    <a:solidFill>
                      <a:srgbClr val="E1EFD8"/>
                    </a:solidFill>
                  </a:tcP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i="0" u="none" strike="noStrike" cap="none">
                          <a:solidFill>
                            <a:schemeClr val="dk1"/>
                          </a:solidFill>
                          <a:latin typeface="Calibri"/>
                          <a:ea typeface="Calibri"/>
                          <a:cs typeface="Calibri"/>
                          <a:sym typeface="Calibri"/>
                        </a:rPr>
                        <a:t>HU11. Como administrador Quiero registrar la cantidad disponible de cada producto Para saber cuántos artículos hay en stock</a:t>
                      </a:r>
                      <a:endParaRPr sz="1450" b="1" i="0" u="none" strike="noStrike" cap="none">
                        <a:solidFill>
                          <a:schemeClr val="dk1"/>
                        </a:solidFill>
                        <a:latin typeface="Calibri"/>
                        <a:ea typeface="Calibri"/>
                        <a:cs typeface="Calibri"/>
                        <a:sym typeface="Calibri"/>
                      </a:endParaRPr>
                    </a:p>
                  </a:txBody>
                  <a:tcPr marL="91450" marR="91450" marT="45725" marB="45725" anchor="ctr">
                    <a:solidFill>
                      <a:srgbClr val="E1EFD8"/>
                    </a:solidFill>
                  </a:tcPr>
                </a:tc>
                <a:extLst>
                  <a:ext uri="{0D108BD9-81ED-4DB2-BD59-A6C34878D82A}">
                    <a16:rowId xmlns:a16="http://schemas.microsoft.com/office/drawing/2014/main" val="10000"/>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HU2. Como administrador quiero iniciar sesión en la plataforma para acceder a las funciones del sistema.</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i="0" u="none" strike="noStrike" cap="none">
                          <a:solidFill>
                            <a:schemeClr val="dk1"/>
                          </a:solidFill>
                          <a:latin typeface="Calibri"/>
                          <a:ea typeface="Calibri"/>
                          <a:cs typeface="Calibri"/>
                          <a:sym typeface="Calibri"/>
                        </a:rPr>
                        <a:t>HU12. Como administrador Quiero actualizar el stock Para reflejar los cambios en el inventario</a:t>
                      </a:r>
                      <a:endParaRPr sz="1400" u="none" strike="noStrike" cap="none"/>
                    </a:p>
                  </a:txBody>
                  <a:tcPr marL="91450" marR="91450" marT="45725" marB="45725" anchor="ctr"/>
                </a:tc>
                <a:extLst>
                  <a:ext uri="{0D108BD9-81ED-4DB2-BD59-A6C34878D82A}">
                    <a16:rowId xmlns:a16="http://schemas.microsoft.com/office/drawing/2014/main" val="10001"/>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HU3. Como administrador quiero cerrar sesión para proteger la seguridad del sistema.</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HU13. Como cliente quiero ver el catálogo de productos en la página web para conocer qué vende la bicicletería.</a:t>
                      </a:r>
                      <a:endParaRPr sz="1400" u="none" strike="noStrike" cap="none"/>
                    </a:p>
                  </a:txBody>
                  <a:tcPr marL="91450" marR="91450" marT="45725" marB="45725" anchor="ctr"/>
                </a:tc>
                <a:extLst>
                  <a:ext uri="{0D108BD9-81ED-4DB2-BD59-A6C34878D82A}">
                    <a16:rowId xmlns:a16="http://schemas.microsoft.com/office/drawing/2014/main" val="10002"/>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HU4. Como administrador quiero registrar productos para tener control digital del inventario.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HU14. Como cliente quiero ver la descripción de los productos para conocer sus características.</a:t>
                      </a:r>
                      <a:endParaRPr sz="1400" u="none" strike="noStrike" cap="none"/>
                    </a:p>
                  </a:txBody>
                  <a:tcPr marL="91450" marR="91450" marT="45725" marB="45725" anchor="ctr"/>
                </a:tc>
                <a:extLst>
                  <a:ext uri="{0D108BD9-81ED-4DB2-BD59-A6C34878D82A}">
                    <a16:rowId xmlns:a16="http://schemas.microsoft.com/office/drawing/2014/main" val="10003"/>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HU5. Como administrador quiero editar la información de los productos para mantener actualizado el inventario.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HU15. Como cliente quiero ver el precio de los productos para decidir si puedo comprarlos.</a:t>
                      </a:r>
                      <a:endParaRPr sz="1400" u="none" strike="noStrike" cap="none"/>
                    </a:p>
                  </a:txBody>
                  <a:tcPr marL="91450" marR="91450" marT="45725" marB="45725" anchor="ctr"/>
                </a:tc>
                <a:extLst>
                  <a:ext uri="{0D108BD9-81ED-4DB2-BD59-A6C34878D82A}">
                    <a16:rowId xmlns:a16="http://schemas.microsoft.com/office/drawing/2014/main" val="10004"/>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HU6. Como administrador quiero eliminar productos para retirar artículos que ya no se venden.</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HU16. Como cliente quiero ver imágenes de los productos para saber cómo son.</a:t>
                      </a:r>
                      <a:endParaRPr sz="1400" u="none" strike="noStrike" cap="none"/>
                    </a:p>
                  </a:txBody>
                  <a:tcPr marL="91450" marR="91450" marT="45725" marB="45725" anchor="ctr"/>
                </a:tc>
                <a:extLst>
                  <a:ext uri="{0D108BD9-81ED-4DB2-BD59-A6C34878D82A}">
                    <a16:rowId xmlns:a16="http://schemas.microsoft.com/office/drawing/2014/main" val="10005"/>
                  </a:ext>
                </a:extLst>
              </a:tr>
              <a:tr h="7660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HU7. Como administrador quiero visualizar todos los productos registrados para revisar el inventario disponible.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HU17. Como cliente quiero ver si un producto está disponible o agotado para saber si puedo comprarlo.</a:t>
                      </a:r>
                      <a:endParaRPr sz="1400" u="none" strike="noStrike" cap="none"/>
                    </a:p>
                  </a:txBody>
                  <a:tcPr marL="91450" marR="91450" marT="45725" marB="45725" anchor="ctr"/>
                </a:tc>
                <a:extLst>
                  <a:ext uri="{0D108BD9-81ED-4DB2-BD59-A6C34878D82A}">
                    <a16:rowId xmlns:a16="http://schemas.microsoft.com/office/drawing/2014/main" val="10006"/>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HU8. Como administrador quiero ordenar los productos alfabéticamente para encontrarlos más fácilmente.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HU18. Como cliente quiero comunicarme por WhatsApp desde la página para preguntar por los productos.</a:t>
                      </a:r>
                      <a:endParaRPr sz="1400" u="none" strike="noStrike" cap="none"/>
                    </a:p>
                  </a:txBody>
                  <a:tcPr marL="91450" marR="91450" marT="45725" marB="45725" anchor="ctr"/>
                </a:tc>
                <a:extLst>
                  <a:ext uri="{0D108BD9-81ED-4DB2-BD59-A6C34878D82A}">
                    <a16:rowId xmlns:a16="http://schemas.microsoft.com/office/drawing/2014/main" val="10007"/>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HU9. Como administrador quiero buscar productos por nombre para encontrarlos rápidamente.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HU19. Como cliente quiero acceder a las redes sociales del negocio para seguir las novedades de la tienda.</a:t>
                      </a:r>
                      <a:endParaRPr sz="1400" u="none" strike="noStrike" cap="none"/>
                    </a:p>
                  </a:txBody>
                  <a:tcPr marL="91450" marR="91450" marT="45725" marB="45725" anchor="ctr"/>
                </a:tc>
                <a:extLst>
                  <a:ext uri="{0D108BD9-81ED-4DB2-BD59-A6C34878D82A}">
                    <a16:rowId xmlns:a16="http://schemas.microsoft.com/office/drawing/2014/main" val="10008"/>
                  </a:ext>
                </a:extLst>
              </a:tr>
              <a:tr h="7660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HU10. Como administrador quiero clasificar los productos por categorías para organizar mejor el inventario.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HU20. Como administrador quiero registrar empleados para tener control del personal que trabaja.</a:t>
                      </a:r>
                      <a:endParaRPr sz="1400" u="none" strike="noStrike" cap="none"/>
                    </a:p>
                  </a:txBody>
                  <a:tcPr marL="91450" marR="91450" marT="45725" marB="45725"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7"/>
          <p:cNvSpPr txBox="1"/>
          <p:nvPr/>
        </p:nvSpPr>
        <p:spPr>
          <a:xfrm>
            <a:off x="678207" y="338757"/>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Relación Requerimientos</a:t>
            </a:r>
            <a:endParaRPr sz="3600" b="1" i="0" u="none" strike="noStrike" cap="none">
              <a:solidFill>
                <a:srgbClr val="38AA00"/>
              </a:solidFill>
              <a:latin typeface="Work Sans"/>
              <a:ea typeface="Work Sans"/>
              <a:cs typeface="Work Sans"/>
              <a:sym typeface="Work Sans"/>
            </a:endParaRPr>
          </a:p>
        </p:txBody>
      </p:sp>
      <p:cxnSp>
        <p:nvCxnSpPr>
          <p:cNvPr id="366" name="Google Shape;366;p27"/>
          <p:cNvCxnSpPr/>
          <p:nvPr/>
        </p:nvCxnSpPr>
        <p:spPr>
          <a:xfrm>
            <a:off x="799152" y="885959"/>
            <a:ext cx="1425934" cy="0"/>
          </a:xfrm>
          <a:prstGeom prst="straightConnector1">
            <a:avLst/>
          </a:prstGeom>
          <a:noFill/>
          <a:ln w="12700" cap="flat" cmpd="sng">
            <a:solidFill>
              <a:srgbClr val="4D4D4C"/>
            </a:solidFill>
            <a:prstDash val="solid"/>
            <a:miter lim="800000"/>
            <a:headEnd type="none" w="sm" len="sm"/>
            <a:tailEnd type="none" w="sm" len="sm"/>
          </a:ln>
        </p:spPr>
      </p:cxnSp>
      <p:graphicFrame>
        <p:nvGraphicFramePr>
          <p:cNvPr id="367" name="Google Shape;367;p27"/>
          <p:cNvGraphicFramePr/>
          <p:nvPr/>
        </p:nvGraphicFramePr>
        <p:xfrm>
          <a:off x="1521731" y="1126724"/>
          <a:ext cx="9148550" cy="3889925"/>
        </p:xfrm>
        <a:graphic>
          <a:graphicData uri="http://schemas.openxmlformats.org/drawingml/2006/table">
            <a:tbl>
              <a:tblPr firstRow="1" bandRow="1">
                <a:noFill/>
                <a:tableStyleId>{1F7C81F0-EF78-42B9-8A88-19DE12DBAE76}</a:tableStyleId>
              </a:tblPr>
              <a:tblGrid>
                <a:gridCol w="4574275">
                  <a:extLst>
                    <a:ext uri="{9D8B030D-6E8A-4147-A177-3AD203B41FA5}">
                      <a16:colId xmlns:a16="http://schemas.microsoft.com/office/drawing/2014/main" val="20000"/>
                    </a:ext>
                  </a:extLst>
                </a:gridCol>
                <a:gridCol w="4574275">
                  <a:extLst>
                    <a:ext uri="{9D8B030D-6E8A-4147-A177-3AD203B41FA5}">
                      <a16:colId xmlns:a16="http://schemas.microsoft.com/office/drawing/2014/main" val="20001"/>
                    </a:ext>
                  </a:extLst>
                </a:gridCol>
              </a:tblGrid>
              <a:tr h="346075">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lt1"/>
                          </a:solidFill>
                          <a:latin typeface="Calibri"/>
                          <a:ea typeface="Calibri"/>
                          <a:cs typeface="Calibri"/>
                          <a:sym typeface="Calibri"/>
                        </a:rPr>
                        <a:t>Requerimiento Funcional</a:t>
                      </a:r>
                      <a:endParaRPr sz="1600" b="1" u="none" strike="noStrike" cap="none">
                        <a:solidFill>
                          <a:schemeClr val="lt1"/>
                        </a:solidFill>
                        <a:latin typeface="Calibri"/>
                        <a:ea typeface="Calibri"/>
                        <a:cs typeface="Calibri"/>
                        <a:sym typeface="Calibri"/>
                      </a:endParaRPr>
                    </a:p>
                  </a:txBody>
                  <a:tcPr marL="68575" marR="68575" marT="0" marB="0"/>
                </a:tc>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lt1"/>
                          </a:solidFill>
                          <a:latin typeface="Calibri"/>
                          <a:ea typeface="Calibri"/>
                          <a:cs typeface="Calibri"/>
                          <a:sym typeface="Calibri"/>
                        </a:rPr>
                        <a:t>Historia de Usuario</a:t>
                      </a:r>
                      <a:endParaRPr sz="1600" b="1" u="none" strike="noStrike" cap="none">
                        <a:solidFill>
                          <a:schemeClr val="lt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830650">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RF1. El sistema debe permitir registrar un usuario administrador</a:t>
                      </a:r>
                      <a:endParaRPr sz="160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HU1. Como administrador</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registrar un usuario administrador</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Para poder gestionar el sistema.</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830650">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dirty="0">
                          <a:solidFill>
                            <a:schemeClr val="dk1"/>
                          </a:solidFill>
                          <a:latin typeface="Calibri"/>
                          <a:ea typeface="Calibri"/>
                          <a:cs typeface="Calibri"/>
                          <a:sym typeface="Calibri"/>
                        </a:rPr>
                        <a:t>RF2. El sistema debe permitir iniciar sesión al administrador mediante usuario y contraseña</a:t>
                      </a:r>
                      <a:endParaRPr sz="1600" b="1" u="none" strike="noStrike" cap="none" dirty="0">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HU2. Como administrador</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iniciar sesión en la plataforma</a:t>
                      </a:r>
                      <a:br>
                        <a:rPr lang="es-CO" sz="1600" b="1" u="none" strike="noStrike" cap="none">
                          <a:solidFill>
                            <a:schemeClr val="dk1"/>
                          </a:solidFill>
                          <a:latin typeface="Calibri"/>
                          <a:ea typeface="Calibri"/>
                          <a:cs typeface="Calibri"/>
                          <a:sym typeface="Calibri"/>
                        </a:rPr>
                      </a:br>
                      <a:r>
                        <a:rPr lang="es-CO" sz="1600" b="1" u="none" strike="noStrike" cap="none">
                          <a:solidFill>
                            <a:schemeClr val="dk1"/>
                          </a:solidFill>
                          <a:latin typeface="Calibri"/>
                          <a:ea typeface="Calibri"/>
                          <a:cs typeface="Calibri"/>
                          <a:sym typeface="Calibri"/>
                        </a:rPr>
                        <a:t>Para acceder a las funciones del sistema.</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941275">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RF3. El sistema debe permitir cerrar sesión del sistema</a:t>
                      </a:r>
                      <a:endParaRPr sz="1600" b="1"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HU3. Como administrador</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cerrar sesión</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Para proteger la seguridad del sistema.</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941275">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RF4. El sistema debe permitir registrar productos</a:t>
                      </a:r>
                      <a:endParaRPr sz="1600" b="1"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dirty="0">
                          <a:solidFill>
                            <a:schemeClr val="dk1"/>
                          </a:solidFill>
                          <a:latin typeface="Calibri"/>
                          <a:ea typeface="Calibri"/>
                          <a:cs typeface="Calibri"/>
                          <a:sym typeface="Calibri"/>
                        </a:rPr>
                        <a:t>HU4. Como administrador</a:t>
                      </a:r>
                      <a:endParaRPr sz="1600" b="1"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dirty="0">
                          <a:solidFill>
                            <a:schemeClr val="dk1"/>
                          </a:solidFill>
                          <a:latin typeface="Calibri"/>
                          <a:ea typeface="Calibri"/>
                          <a:cs typeface="Calibri"/>
                          <a:sym typeface="Calibri"/>
                        </a:rPr>
                        <a:t>Quiero registrar productos</a:t>
                      </a:r>
                      <a:endParaRPr sz="1600" b="1"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dirty="0">
                          <a:solidFill>
                            <a:schemeClr val="dk1"/>
                          </a:solidFill>
                          <a:latin typeface="Calibri"/>
                          <a:ea typeface="Calibri"/>
                          <a:cs typeface="Calibri"/>
                          <a:sym typeface="Calibri"/>
                        </a:rPr>
                        <a:t>Para tener control digital del inventario.</a:t>
                      </a:r>
                      <a:endParaRPr sz="1600" b="1" u="none" strike="noStrike" cap="none" dirty="0">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bl>
          </a:graphicData>
        </a:graphic>
      </p:graphicFrame>
      <p:pic>
        <p:nvPicPr>
          <p:cNvPr id="368" name="Google Shape;368;p27">
            <a:hlinkClick r:id="rId3"/>
          </p:cNvPr>
          <p:cNvPicPr preferRelativeResize="0"/>
          <p:nvPr/>
        </p:nvPicPr>
        <p:blipFill rotWithShape="1">
          <a:blip r:embed="rId4">
            <a:alphaModFix/>
          </a:blip>
          <a:srcRect l="7897" t="19762" r="7698" b="22381"/>
          <a:stretch/>
        </p:blipFill>
        <p:spPr>
          <a:xfrm>
            <a:off x="5050970" y="5014937"/>
            <a:ext cx="2090057" cy="1432677"/>
          </a:xfrm>
          <a:prstGeom prst="rect">
            <a:avLst/>
          </a:prstGeom>
          <a:noFill/>
          <a:ln>
            <a:noFill/>
          </a:ln>
        </p:spPr>
      </p:pic>
      <p:sp>
        <p:nvSpPr>
          <p:cNvPr id="369" name="Google Shape;369;p27"/>
          <p:cNvSpPr txBox="1"/>
          <p:nvPr/>
        </p:nvSpPr>
        <p:spPr>
          <a:xfrm>
            <a:off x="5301114" y="6447614"/>
            <a:ext cx="1663022"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Documento aquí</a:t>
            </a:r>
            <a:endParaRPr sz="16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3858848" y="2539470"/>
            <a:ext cx="4474302" cy="1015663"/>
          </a:xfrm>
          <a:prstGeom prst="rect">
            <a:avLst/>
          </a:prstGeom>
          <a:noFill/>
        </p:spPr>
        <p:txBody>
          <a:bodyPr wrap="none" rtlCol="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sng" strike="noStrike" cap="none" dirty="0">
                <a:solidFill>
                  <a:srgbClr val="FFFFFF"/>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MOCK-UPS</a:t>
            </a:r>
            <a:endParaRPr lang="es-CO" sz="6000" b="1" i="0" u="none" strike="noStrike" cap="none" dirty="0">
              <a:solidFill>
                <a:srgbClr val="FFFFFF"/>
              </a:solidFill>
              <a:latin typeface="Work Sans"/>
              <a:ea typeface="Work Sans"/>
              <a:cs typeface="Work Sans"/>
              <a:sym typeface="Work Sans"/>
            </a:endParaRP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689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29"/>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381" name="Google Shape;381;p29"/>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382" name="Google Shape;382;p29"/>
          <p:cNvPicPr preferRelativeResize="0"/>
          <p:nvPr/>
        </p:nvPicPr>
        <p:blipFill rotWithShape="1">
          <a:blip r:embed="rId3">
            <a:alphaModFix/>
          </a:blip>
          <a:srcRect/>
          <a:stretch/>
        </p:blipFill>
        <p:spPr>
          <a:xfrm>
            <a:off x="1175612" y="1319568"/>
            <a:ext cx="9506761" cy="544899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0"/>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388" name="Google Shape;388;p30"/>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389" name="Google Shape;389;p30"/>
          <p:cNvPicPr preferRelativeResize="0"/>
          <p:nvPr/>
        </p:nvPicPr>
        <p:blipFill rotWithShape="1">
          <a:blip r:embed="rId3">
            <a:alphaModFix/>
          </a:blip>
          <a:srcRect/>
          <a:stretch/>
        </p:blipFill>
        <p:spPr>
          <a:xfrm>
            <a:off x="1707459" y="1319568"/>
            <a:ext cx="9220371" cy="533727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1"/>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395" name="Google Shape;395;p3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396" name="Google Shape;396;p31"/>
          <p:cNvPicPr preferRelativeResize="0"/>
          <p:nvPr/>
        </p:nvPicPr>
        <p:blipFill rotWithShape="1">
          <a:blip r:embed="rId3">
            <a:alphaModFix/>
          </a:blip>
          <a:srcRect/>
          <a:stretch/>
        </p:blipFill>
        <p:spPr>
          <a:xfrm>
            <a:off x="1485701" y="1319568"/>
            <a:ext cx="9220598" cy="5338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32"/>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02" name="Google Shape;402;p32"/>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03" name="Google Shape;403;p32"/>
          <p:cNvPicPr preferRelativeResize="0"/>
          <p:nvPr/>
        </p:nvPicPr>
        <p:blipFill rotWithShape="1">
          <a:blip r:embed="rId3">
            <a:alphaModFix/>
          </a:blip>
          <a:srcRect/>
          <a:stretch/>
        </p:blipFill>
        <p:spPr>
          <a:xfrm>
            <a:off x="1499016" y="1319566"/>
            <a:ext cx="9226800" cy="495197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3"/>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09" name="Google Shape;409;p33"/>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10" name="Google Shape;410;p33"/>
          <p:cNvPicPr preferRelativeResize="0"/>
          <p:nvPr/>
        </p:nvPicPr>
        <p:blipFill rotWithShape="1">
          <a:blip r:embed="rId3">
            <a:alphaModFix/>
          </a:blip>
          <a:srcRect/>
          <a:stretch/>
        </p:blipFill>
        <p:spPr>
          <a:xfrm>
            <a:off x="1366684" y="1319568"/>
            <a:ext cx="9458631" cy="542141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4"/>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16" name="Google Shape;416;p34"/>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17" name="Google Shape;417;p34"/>
          <p:cNvPicPr preferRelativeResize="0"/>
          <p:nvPr/>
        </p:nvPicPr>
        <p:blipFill rotWithShape="1">
          <a:blip r:embed="rId3">
            <a:alphaModFix/>
          </a:blip>
          <a:srcRect/>
          <a:stretch/>
        </p:blipFill>
        <p:spPr>
          <a:xfrm>
            <a:off x="1455433" y="1319568"/>
            <a:ext cx="9281133" cy="5338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5"/>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23" name="Google Shape;423;p35"/>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24" name="Google Shape;424;p35"/>
          <p:cNvPicPr preferRelativeResize="0"/>
          <p:nvPr/>
        </p:nvPicPr>
        <p:blipFill rotWithShape="1">
          <a:blip r:embed="rId3">
            <a:alphaModFix/>
          </a:blip>
          <a:srcRect/>
          <a:stretch/>
        </p:blipFill>
        <p:spPr>
          <a:xfrm>
            <a:off x="1483277" y="1319568"/>
            <a:ext cx="9225446" cy="5338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36"/>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30" name="Google Shape;430;p36"/>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31" name="Google Shape;431;p36"/>
          <p:cNvPicPr preferRelativeResize="0"/>
          <p:nvPr/>
        </p:nvPicPr>
        <p:blipFill rotWithShape="1">
          <a:blip r:embed="rId3">
            <a:alphaModFix/>
          </a:blip>
          <a:srcRect/>
          <a:stretch/>
        </p:blipFill>
        <p:spPr>
          <a:xfrm>
            <a:off x="1408273" y="1319568"/>
            <a:ext cx="9375454" cy="5338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7"/>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37" name="Google Shape;437;p37"/>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38" name="Google Shape;438;p37"/>
          <p:cNvPicPr preferRelativeResize="0"/>
          <p:nvPr/>
        </p:nvPicPr>
        <p:blipFill rotWithShape="1">
          <a:blip r:embed="rId3">
            <a:alphaModFix/>
          </a:blip>
          <a:srcRect/>
          <a:stretch/>
        </p:blipFill>
        <p:spPr>
          <a:xfrm>
            <a:off x="1381125" y="1319567"/>
            <a:ext cx="9220200" cy="52847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8"/>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44" name="Google Shape;444;p38"/>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45" name="Google Shape;445;p38"/>
          <p:cNvPicPr preferRelativeResize="0"/>
          <p:nvPr/>
        </p:nvPicPr>
        <p:blipFill rotWithShape="1">
          <a:blip r:embed="rId3">
            <a:alphaModFix/>
          </a:blip>
          <a:srcRect/>
          <a:stretch/>
        </p:blipFill>
        <p:spPr>
          <a:xfrm>
            <a:off x="1444692" y="1319568"/>
            <a:ext cx="9302616" cy="5338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9"/>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51" name="Google Shape;451;p39"/>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52" name="Google Shape;452;p39"/>
          <p:cNvPicPr preferRelativeResize="0"/>
          <p:nvPr/>
        </p:nvPicPr>
        <p:blipFill rotWithShape="1">
          <a:blip r:embed="rId3">
            <a:alphaModFix/>
          </a:blip>
          <a:srcRect/>
          <a:stretch/>
        </p:blipFill>
        <p:spPr>
          <a:xfrm>
            <a:off x="1303101" y="1363701"/>
            <a:ext cx="9585798" cy="54942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0"/>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58" name="Google Shape;458;p40"/>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59" name="Google Shape;459;p40"/>
          <p:cNvPicPr preferRelativeResize="0"/>
          <p:nvPr/>
        </p:nvPicPr>
        <p:blipFill rotWithShape="1">
          <a:blip r:embed="rId3">
            <a:alphaModFix/>
          </a:blip>
          <a:srcRect/>
          <a:stretch/>
        </p:blipFill>
        <p:spPr>
          <a:xfrm>
            <a:off x="1444692" y="1319568"/>
            <a:ext cx="9302616" cy="5338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1"/>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65" name="Google Shape;465;p4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66" name="Google Shape;466;p41"/>
          <p:cNvPicPr preferRelativeResize="0"/>
          <p:nvPr/>
        </p:nvPicPr>
        <p:blipFill rotWithShape="1">
          <a:blip r:embed="rId3">
            <a:alphaModFix/>
          </a:blip>
          <a:srcRect/>
          <a:stretch/>
        </p:blipFill>
        <p:spPr>
          <a:xfrm>
            <a:off x="1476499" y="1319568"/>
            <a:ext cx="9239002" cy="5338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2"/>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72" name="Google Shape;472;p42"/>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73" name="Google Shape;473;p42"/>
          <p:cNvPicPr preferRelativeResize="0"/>
          <p:nvPr/>
        </p:nvPicPr>
        <p:blipFill rotWithShape="1">
          <a:blip r:embed="rId3">
            <a:alphaModFix/>
          </a:blip>
          <a:srcRect/>
          <a:stretch/>
        </p:blipFill>
        <p:spPr>
          <a:xfrm>
            <a:off x="1496336" y="1319568"/>
            <a:ext cx="9199327" cy="53388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43"/>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79" name="Google Shape;479;p43"/>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80" name="Google Shape;480;p43"/>
          <p:cNvPicPr preferRelativeResize="0"/>
          <p:nvPr/>
        </p:nvPicPr>
        <p:blipFill rotWithShape="1">
          <a:blip r:embed="rId3">
            <a:alphaModFix/>
          </a:blip>
          <a:srcRect/>
          <a:stretch/>
        </p:blipFill>
        <p:spPr>
          <a:xfrm>
            <a:off x="1459391" y="1319568"/>
            <a:ext cx="9273217" cy="53388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44"/>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86" name="Google Shape;486;p44"/>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87" name="Google Shape;487;p44"/>
          <p:cNvPicPr preferRelativeResize="0"/>
          <p:nvPr/>
        </p:nvPicPr>
        <p:blipFill rotWithShape="1">
          <a:blip r:embed="rId3">
            <a:alphaModFix/>
          </a:blip>
          <a:srcRect/>
          <a:stretch/>
        </p:blipFill>
        <p:spPr>
          <a:xfrm>
            <a:off x="1401537" y="1319568"/>
            <a:ext cx="9388925" cy="5338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45"/>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493" name="Google Shape;493;p45"/>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494" name="Google Shape;494;p45"/>
          <p:cNvPicPr preferRelativeResize="0"/>
          <p:nvPr/>
        </p:nvPicPr>
        <p:blipFill rotWithShape="1">
          <a:blip r:embed="rId3">
            <a:alphaModFix/>
          </a:blip>
          <a:srcRect/>
          <a:stretch/>
        </p:blipFill>
        <p:spPr>
          <a:xfrm>
            <a:off x="1476172" y="1319568"/>
            <a:ext cx="9239655" cy="52959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6"/>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00" name="Google Shape;500;p46"/>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01" name="Google Shape;501;p46"/>
          <p:cNvPicPr preferRelativeResize="0"/>
          <p:nvPr/>
        </p:nvPicPr>
        <p:blipFill rotWithShape="1">
          <a:blip r:embed="rId3">
            <a:alphaModFix/>
          </a:blip>
          <a:srcRect/>
          <a:stretch/>
        </p:blipFill>
        <p:spPr>
          <a:xfrm>
            <a:off x="1334919" y="1319568"/>
            <a:ext cx="9522161" cy="545782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7"/>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07" name="Google Shape;507;p47"/>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08" name="Google Shape;508;p47"/>
          <p:cNvPicPr preferRelativeResize="0"/>
          <p:nvPr/>
        </p:nvPicPr>
        <p:blipFill rotWithShape="1">
          <a:blip r:embed="rId3">
            <a:alphaModFix/>
          </a:blip>
          <a:srcRect/>
          <a:stretch/>
        </p:blipFill>
        <p:spPr>
          <a:xfrm>
            <a:off x="1585507" y="1411209"/>
            <a:ext cx="9020985" cy="517056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8"/>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14" name="Google Shape;514;p48"/>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15" name="Google Shape;515;p48"/>
          <p:cNvPicPr preferRelativeResize="0"/>
          <p:nvPr/>
        </p:nvPicPr>
        <p:blipFill rotWithShape="1">
          <a:blip r:embed="rId3">
            <a:alphaModFix/>
          </a:blip>
          <a:srcRect/>
          <a:stretch/>
        </p:blipFill>
        <p:spPr>
          <a:xfrm>
            <a:off x="1704975" y="1361113"/>
            <a:ext cx="9115425" cy="522469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49"/>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21" name="Google Shape;521;p49"/>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22" name="Google Shape;522;p49"/>
          <p:cNvPicPr preferRelativeResize="0"/>
          <p:nvPr/>
        </p:nvPicPr>
        <p:blipFill rotWithShape="1">
          <a:blip r:embed="rId3">
            <a:alphaModFix/>
          </a:blip>
          <a:srcRect/>
          <a:stretch/>
        </p:blipFill>
        <p:spPr>
          <a:xfrm>
            <a:off x="1440695" y="1319568"/>
            <a:ext cx="9310610" cy="53388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50"/>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28" name="Google Shape;528;p50"/>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29" name="Google Shape;529;p50"/>
          <p:cNvPicPr preferRelativeResize="0"/>
          <p:nvPr/>
        </p:nvPicPr>
        <p:blipFill rotWithShape="1">
          <a:blip r:embed="rId3">
            <a:alphaModFix/>
          </a:blip>
          <a:srcRect/>
          <a:stretch/>
        </p:blipFill>
        <p:spPr>
          <a:xfrm>
            <a:off x="1439320" y="1319568"/>
            <a:ext cx="9313359" cy="53388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1"/>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35" name="Google Shape;535;p5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36" name="Google Shape;536;p51"/>
          <p:cNvPicPr preferRelativeResize="0"/>
          <p:nvPr/>
        </p:nvPicPr>
        <p:blipFill rotWithShape="1">
          <a:blip r:embed="rId3">
            <a:alphaModFix/>
          </a:blip>
          <a:srcRect/>
          <a:stretch/>
        </p:blipFill>
        <p:spPr>
          <a:xfrm>
            <a:off x="1532698" y="1319568"/>
            <a:ext cx="9126604" cy="53388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52"/>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42" name="Google Shape;542;p52"/>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43" name="Google Shape;543;p52"/>
          <p:cNvPicPr preferRelativeResize="0"/>
          <p:nvPr/>
        </p:nvPicPr>
        <p:blipFill rotWithShape="1">
          <a:blip r:embed="rId3">
            <a:alphaModFix/>
          </a:blip>
          <a:srcRect/>
          <a:stretch/>
        </p:blipFill>
        <p:spPr>
          <a:xfrm>
            <a:off x="1436683" y="1319568"/>
            <a:ext cx="9318633" cy="53388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53"/>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49" name="Google Shape;549;p53"/>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50" name="Google Shape;550;p53"/>
          <p:cNvPicPr preferRelativeResize="0"/>
          <p:nvPr/>
        </p:nvPicPr>
        <p:blipFill rotWithShape="1">
          <a:blip r:embed="rId3">
            <a:alphaModFix/>
          </a:blip>
          <a:srcRect/>
          <a:stretch/>
        </p:blipFill>
        <p:spPr>
          <a:xfrm>
            <a:off x="1454031" y="1319568"/>
            <a:ext cx="9283937" cy="53388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54"/>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56" name="Google Shape;556;p54"/>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57" name="Google Shape;557;p54"/>
          <p:cNvPicPr preferRelativeResize="0"/>
          <p:nvPr/>
        </p:nvPicPr>
        <p:blipFill rotWithShape="1">
          <a:blip r:embed="rId3">
            <a:alphaModFix/>
          </a:blip>
          <a:srcRect/>
          <a:stretch/>
        </p:blipFill>
        <p:spPr>
          <a:xfrm>
            <a:off x="1429931" y="1319568"/>
            <a:ext cx="9332138" cy="53388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2929908" y="2539470"/>
            <a:ext cx="6332183" cy="1015663"/>
          </a:xfrm>
          <a:prstGeom prst="rect">
            <a:avLst/>
          </a:prstGeom>
          <a:noFill/>
        </p:spPr>
        <p:txBody>
          <a:bodyPr wrap="none" rtlCol="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dirty="0">
                <a:solidFill>
                  <a:srgbClr val="FFFFFF"/>
                </a:solidFill>
                <a:latin typeface="Work Sans"/>
                <a:ea typeface="Work Sans"/>
                <a:cs typeface="Work Sans"/>
                <a:sym typeface="Work Sans"/>
              </a:rPr>
              <a:t>BASE DE DATOS</a:t>
            </a: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35773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58"/>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MER</a:t>
            </a:r>
            <a:endParaRPr sz="3600" b="1" i="0" u="none" strike="noStrike" cap="none">
              <a:solidFill>
                <a:srgbClr val="38AA00"/>
              </a:solidFill>
              <a:latin typeface="Work Sans"/>
              <a:ea typeface="Work Sans"/>
              <a:cs typeface="Work Sans"/>
              <a:sym typeface="Work Sans"/>
            </a:endParaRPr>
          </a:p>
        </p:txBody>
      </p:sp>
      <p:cxnSp>
        <p:nvCxnSpPr>
          <p:cNvPr id="569" name="Google Shape;569;p58"/>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70" name="Google Shape;570;p58">
            <a:hlinkClick r:id="rId3"/>
          </p:cNvPr>
          <p:cNvPicPr preferRelativeResize="0"/>
          <p:nvPr/>
        </p:nvPicPr>
        <p:blipFill rotWithShape="1">
          <a:blip r:embed="rId4">
            <a:alphaModFix/>
          </a:blip>
          <a:srcRect/>
          <a:stretch/>
        </p:blipFill>
        <p:spPr>
          <a:xfrm>
            <a:off x="2325949" y="1319568"/>
            <a:ext cx="7540101" cy="5479808"/>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59"/>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RELACIONAL</a:t>
            </a:r>
            <a:endParaRPr sz="3600" b="1" i="0" u="none" strike="noStrike" cap="none">
              <a:solidFill>
                <a:srgbClr val="38AA00"/>
              </a:solidFill>
              <a:latin typeface="Work Sans"/>
              <a:ea typeface="Work Sans"/>
              <a:cs typeface="Work Sans"/>
              <a:sym typeface="Work Sans"/>
            </a:endParaRPr>
          </a:p>
        </p:txBody>
      </p:sp>
      <p:cxnSp>
        <p:nvCxnSpPr>
          <p:cNvPr id="576" name="Google Shape;576;p59"/>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3" name="Imagen 2">
            <a:hlinkClick r:id="rId3"/>
            <a:extLst>
              <a:ext uri="{FF2B5EF4-FFF2-40B4-BE49-F238E27FC236}">
                <a16:creationId xmlns:a16="http://schemas.microsoft.com/office/drawing/2014/main" id="{7F2B4FB4-0933-44D5-BF7E-9D20EE70B8A4}"/>
              </a:ext>
            </a:extLst>
          </p:cNvPr>
          <p:cNvPicPr>
            <a:picLocks noChangeAspect="1"/>
          </p:cNvPicPr>
          <p:nvPr/>
        </p:nvPicPr>
        <p:blipFill>
          <a:blip r:embed="rId4"/>
          <a:stretch>
            <a:fillRect/>
          </a:stretch>
        </p:blipFill>
        <p:spPr>
          <a:xfrm>
            <a:off x="3975050" y="1682086"/>
            <a:ext cx="4241900" cy="409234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63"/>
          <p:cNvSpPr txBox="1"/>
          <p:nvPr/>
        </p:nvSpPr>
        <p:spPr>
          <a:xfrm>
            <a:off x="974674" y="642970"/>
            <a:ext cx="782642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dirty="0">
                <a:solidFill>
                  <a:srgbClr val="38AA00"/>
                </a:solidFill>
                <a:latin typeface="Work Sans"/>
                <a:ea typeface="Work Sans"/>
                <a:cs typeface="Work Sans"/>
                <a:sym typeface="Work Sans"/>
              </a:rPr>
              <a:t>NORMALIZACIÓN (NF1, NF2, NF3)</a:t>
            </a:r>
            <a:endParaRPr sz="1400" b="0" i="0" u="none" strike="noStrike" cap="none" dirty="0">
              <a:solidFill>
                <a:srgbClr val="000000"/>
              </a:solidFill>
              <a:latin typeface="Arial"/>
              <a:ea typeface="Arial"/>
              <a:cs typeface="Arial"/>
              <a:sym typeface="Arial"/>
            </a:endParaRPr>
          </a:p>
        </p:txBody>
      </p:sp>
      <p:cxnSp>
        <p:nvCxnSpPr>
          <p:cNvPr id="602" name="Google Shape;602;p63"/>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603" name="Google Shape;603;p63">
            <a:hlinkClick r:id="rId3"/>
          </p:cNvPr>
          <p:cNvPicPr preferRelativeResize="0"/>
          <p:nvPr/>
        </p:nvPicPr>
        <p:blipFill rotWithShape="1">
          <a:blip r:embed="rId4">
            <a:alphaModFix/>
          </a:blip>
          <a:srcRect/>
          <a:stretch/>
        </p:blipFill>
        <p:spPr>
          <a:xfrm>
            <a:off x="1923467" y="1833340"/>
            <a:ext cx="8345065" cy="319132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61"/>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DICCIONARIO DE DATOS</a:t>
            </a:r>
            <a:endParaRPr sz="3600" b="1" i="0" u="none" strike="noStrike" cap="none">
              <a:solidFill>
                <a:srgbClr val="38AA00"/>
              </a:solidFill>
              <a:latin typeface="Work Sans"/>
              <a:ea typeface="Work Sans"/>
              <a:cs typeface="Work Sans"/>
              <a:sym typeface="Work Sans"/>
            </a:endParaRPr>
          </a:p>
        </p:txBody>
      </p:sp>
      <p:cxnSp>
        <p:nvCxnSpPr>
          <p:cNvPr id="589" name="Google Shape;589;p61"/>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590" name="Google Shape;590;p61">
            <a:hlinkClick r:id="rId3"/>
          </p:cNvPr>
          <p:cNvPicPr preferRelativeResize="0"/>
          <p:nvPr/>
        </p:nvPicPr>
        <p:blipFill rotWithShape="1">
          <a:blip r:embed="rId4">
            <a:alphaModFix/>
          </a:blip>
          <a:srcRect/>
          <a:stretch/>
        </p:blipFill>
        <p:spPr>
          <a:xfrm>
            <a:off x="1555316" y="1615161"/>
            <a:ext cx="9081367" cy="3627677"/>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3155931" y="2539470"/>
            <a:ext cx="5880136" cy="1938992"/>
          </a:xfrm>
          <a:prstGeom prst="rect">
            <a:avLst/>
          </a:prstGeom>
          <a:noFill/>
        </p:spPr>
        <p:txBody>
          <a:bodyPr wrap="none" rtlCol="0">
            <a:spAutoFit/>
          </a:bodyPr>
          <a:lstStyle/>
          <a:p>
            <a:pPr algn="ctr">
              <a:buClr>
                <a:srgbClr val="FFFFFF"/>
              </a:buClr>
              <a:buSzPts val="6000"/>
            </a:pPr>
            <a:r>
              <a:rPr lang="es-CO" sz="6000" b="1" i="0" u="none" strike="noStrike" cap="none" dirty="0">
                <a:solidFill>
                  <a:srgbClr val="FFFFFF"/>
                </a:solidFill>
                <a:latin typeface="Work Sans"/>
                <a:ea typeface="Work Sans"/>
                <a:cs typeface="Work Sans"/>
                <a:sym typeface="Work Sans"/>
              </a:rPr>
              <a:t>CASOS DE USO</a:t>
            </a:r>
            <a:endParaRPr lang="es-CO" sz="1400" b="0" i="0" u="none" strike="noStrike" cap="none" dirty="0">
              <a:solidFill>
                <a:srgbClr val="000000"/>
              </a:solidFill>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FFFFFF"/>
              </a:buClr>
              <a:buSzPts val="6000"/>
              <a:buFont typeface="Work Sans"/>
              <a:buNone/>
              <a:tabLst/>
              <a:defRPr/>
            </a:pPr>
            <a:endParaRPr kumimoji="0" lang="es-CO" sz="6000" b="1" i="0" u="none" strike="noStrike" kern="0" cap="none" spc="0" normalizeH="0" baseline="0" noProof="0" dirty="0">
              <a:ln>
                <a:noFill/>
              </a:ln>
              <a:solidFill>
                <a:srgbClr val="FFFFFF"/>
              </a:solidFill>
              <a:effectLst/>
              <a:uLnTx/>
              <a:uFillTx/>
              <a:latin typeface="Work Sans"/>
              <a:ea typeface="Work Sans"/>
              <a:cs typeface="Work Sans"/>
              <a:sym typeface="Work Sans"/>
            </a:endParaRP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1701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65"/>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CASOS DE USO</a:t>
            </a:r>
            <a:endParaRPr sz="3600" b="1" i="0" u="none" strike="noStrike" cap="none">
              <a:solidFill>
                <a:srgbClr val="38AA00"/>
              </a:solidFill>
              <a:latin typeface="Work Sans"/>
              <a:ea typeface="Work Sans"/>
              <a:cs typeface="Work Sans"/>
              <a:sym typeface="Work Sans"/>
            </a:endParaRPr>
          </a:p>
        </p:txBody>
      </p:sp>
      <p:cxnSp>
        <p:nvCxnSpPr>
          <p:cNvPr id="615" name="Google Shape;615;p65"/>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616" name="Google Shape;616;p65">
            <a:hlinkClick r:id="rId3"/>
          </p:cNvPr>
          <p:cNvPicPr preferRelativeResize="0"/>
          <p:nvPr/>
        </p:nvPicPr>
        <p:blipFill>
          <a:blip r:embed="rId4">
            <a:alphaModFix/>
          </a:blip>
          <a:stretch>
            <a:fillRect/>
          </a:stretch>
        </p:blipFill>
        <p:spPr>
          <a:xfrm>
            <a:off x="3078350" y="1319575"/>
            <a:ext cx="5962451" cy="524282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66"/>
          <p:cNvSpPr txBox="1"/>
          <p:nvPr/>
        </p:nvSpPr>
        <p:spPr>
          <a:xfrm>
            <a:off x="974674" y="642970"/>
            <a:ext cx="839792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dirty="0">
                <a:solidFill>
                  <a:srgbClr val="38AA00"/>
                </a:solidFill>
                <a:latin typeface="Work Sans"/>
                <a:ea typeface="Work Sans"/>
                <a:cs typeface="Work Sans"/>
                <a:sym typeface="Work Sans"/>
              </a:rPr>
              <a:t>DOCUMENTACIÓN CASOS DE USO</a:t>
            </a:r>
            <a:endParaRPr sz="1400" b="0" i="0" u="none" strike="noStrike" cap="none" dirty="0">
              <a:solidFill>
                <a:srgbClr val="000000"/>
              </a:solidFill>
              <a:latin typeface="Arial"/>
              <a:ea typeface="Arial"/>
              <a:cs typeface="Arial"/>
              <a:sym typeface="Arial"/>
            </a:endParaRPr>
          </a:p>
        </p:txBody>
      </p:sp>
      <p:cxnSp>
        <p:nvCxnSpPr>
          <p:cNvPr id="622" name="Google Shape;622;p66"/>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623" name="Google Shape;623;p66">
            <a:hlinkClick r:id="rId3"/>
          </p:cNvPr>
          <p:cNvPicPr preferRelativeResize="0"/>
          <p:nvPr/>
        </p:nvPicPr>
        <p:blipFill rotWithShape="1">
          <a:blip r:embed="rId4">
            <a:alphaModFix/>
          </a:blip>
          <a:srcRect/>
          <a:stretch/>
        </p:blipFill>
        <p:spPr>
          <a:xfrm>
            <a:off x="3670026" y="1319568"/>
            <a:ext cx="4851948" cy="5451797"/>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5BFFB67-C3D4-337D-C327-AB25D270EADA}"/>
              </a:ext>
            </a:extLst>
          </p:cNvPr>
          <p:cNvSpPr txBox="1"/>
          <p:nvPr/>
        </p:nvSpPr>
        <p:spPr>
          <a:xfrm>
            <a:off x="1591400" y="2539470"/>
            <a:ext cx="9009198" cy="1938992"/>
          </a:xfrm>
          <a:prstGeom prst="rect">
            <a:avLst/>
          </a:prstGeom>
          <a:noFill/>
        </p:spPr>
        <p:txBody>
          <a:bodyPr wrap="none" rtlCol="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dirty="0">
                <a:solidFill>
                  <a:srgbClr val="FFFFFF"/>
                </a:solidFill>
                <a:latin typeface="Work Sans"/>
                <a:ea typeface="Work Sans"/>
                <a:cs typeface="Work Sans"/>
                <a:sym typeface="Work Sans"/>
              </a:rPr>
              <a:t>REPOSITORIO GIT-HUB</a:t>
            </a:r>
          </a:p>
          <a:p>
            <a:pPr marL="0" marR="0" lvl="0" indent="0" algn="ctr" defTabSz="914400" rtl="0" eaLnBrk="1" fontAlgn="auto" latinLnBrk="0" hangingPunct="1">
              <a:lnSpc>
                <a:spcPct val="100000"/>
              </a:lnSpc>
              <a:spcBef>
                <a:spcPts val="0"/>
              </a:spcBef>
              <a:spcAft>
                <a:spcPts val="0"/>
              </a:spcAft>
              <a:buClr>
                <a:srgbClr val="FFFFFF"/>
              </a:buClr>
              <a:buSzPts val="6000"/>
              <a:buFont typeface="Work Sans"/>
              <a:buNone/>
              <a:tabLst/>
              <a:defRPr/>
            </a:pPr>
            <a:endParaRPr kumimoji="0" lang="es-CO" sz="6000" b="1" i="0" u="none" strike="noStrike" kern="0" cap="none" spc="0" normalizeH="0" baseline="0" noProof="0" dirty="0">
              <a:ln>
                <a:noFill/>
              </a:ln>
              <a:solidFill>
                <a:srgbClr val="FFFFFF"/>
              </a:solidFill>
              <a:effectLst/>
              <a:uLnTx/>
              <a:uFillTx/>
              <a:latin typeface="Work Sans"/>
              <a:ea typeface="Work Sans"/>
              <a:cs typeface="Work Sans"/>
              <a:sym typeface="Work Sans"/>
            </a:endParaRPr>
          </a:p>
        </p:txBody>
      </p:sp>
      <p:cxnSp>
        <p:nvCxnSpPr>
          <p:cNvPr id="6" name="Conector recto 5">
            <a:extLst>
              <a:ext uri="{FF2B5EF4-FFF2-40B4-BE49-F238E27FC236}">
                <a16:creationId xmlns:a16="http://schemas.microsoft.com/office/drawing/2014/main" id="{38CE8666-1D2A-4D01-34E5-54FD74A39FC0}"/>
              </a:ext>
            </a:extLst>
          </p:cNvPr>
          <p:cNvCxnSpPr>
            <a:cxnSpLocks/>
          </p:cNvCxnSpPr>
          <p:nvPr/>
        </p:nvCxnSpPr>
        <p:spPr>
          <a:xfrm>
            <a:off x="5013630" y="3555133"/>
            <a:ext cx="224754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86747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6"/>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REPOSITORIO GIT-HUB</a:t>
            </a:r>
            <a:endParaRPr sz="3600" b="1" i="0" u="none" strike="noStrike" cap="none">
              <a:solidFill>
                <a:srgbClr val="38AA00"/>
              </a:solidFill>
              <a:latin typeface="Work Sans"/>
              <a:ea typeface="Work Sans"/>
              <a:cs typeface="Work Sans"/>
              <a:sym typeface="Work Sans"/>
            </a:endParaRPr>
          </a:p>
        </p:txBody>
      </p:sp>
      <p:cxnSp>
        <p:nvCxnSpPr>
          <p:cNvPr id="635" name="Google Shape;635;p56"/>
          <p:cNvCxnSpPr/>
          <p:nvPr/>
        </p:nvCxnSpPr>
        <p:spPr>
          <a:xfrm>
            <a:off x="1066778" y="1188940"/>
            <a:ext cx="1425934" cy="0"/>
          </a:xfrm>
          <a:prstGeom prst="straightConnector1">
            <a:avLst/>
          </a:prstGeom>
          <a:noFill/>
          <a:ln w="12700" cap="flat" cmpd="sng">
            <a:solidFill>
              <a:srgbClr val="4D4D4C"/>
            </a:solidFill>
            <a:prstDash val="solid"/>
            <a:miter lim="800000"/>
            <a:headEnd type="none" w="sm" len="sm"/>
            <a:tailEnd type="none" w="sm" len="sm"/>
          </a:ln>
        </p:spPr>
      </p:cxnSp>
      <p:pic>
        <p:nvPicPr>
          <p:cNvPr id="636" name="Google Shape;636;p56">
            <a:hlinkClick r:id="rId3"/>
          </p:cNvPr>
          <p:cNvPicPr preferRelativeResize="0"/>
          <p:nvPr/>
        </p:nvPicPr>
        <p:blipFill rotWithShape="1">
          <a:blip r:embed="rId4">
            <a:alphaModFix/>
          </a:blip>
          <a:srcRect r="1039"/>
          <a:stretch/>
        </p:blipFill>
        <p:spPr>
          <a:xfrm>
            <a:off x="1753280" y="1319568"/>
            <a:ext cx="8685440" cy="548537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3654353"/>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2471</Words>
  <Application>Microsoft Office PowerPoint</Application>
  <PresentationFormat>Panorámica</PresentationFormat>
  <Paragraphs>250</Paragraphs>
  <Slides>65</Slides>
  <Notes>50</Notes>
  <HiddenSlides>0</HiddenSlides>
  <MMClips>0</MMClips>
  <ScaleCrop>false</ScaleCrop>
  <HeadingPairs>
    <vt:vector size="6" baseType="variant">
      <vt:variant>
        <vt:lpstr>Fuentes usadas</vt:lpstr>
      </vt:variant>
      <vt:variant>
        <vt:i4>6</vt:i4>
      </vt:variant>
      <vt:variant>
        <vt:lpstr>Tema</vt:lpstr>
      </vt:variant>
      <vt:variant>
        <vt:i4>3</vt:i4>
      </vt:variant>
      <vt:variant>
        <vt:lpstr>Títulos de diapositiva</vt:lpstr>
      </vt:variant>
      <vt:variant>
        <vt:i4>65</vt:i4>
      </vt:variant>
    </vt:vector>
  </HeadingPairs>
  <TitlesOfParts>
    <vt:vector size="74" baseType="lpstr">
      <vt:lpstr>Work Sans</vt:lpstr>
      <vt:lpstr>Arial</vt:lpstr>
      <vt:lpstr>Times New Roman</vt:lpstr>
      <vt:lpstr>Calibri</vt:lpstr>
      <vt:lpstr>Calibri Light</vt:lpstr>
      <vt:lpstr>Work Sans Light Roman</vt:lpstr>
      <vt:lpstr>Tema de Office</vt:lpstr>
      <vt:lpstr>1_Tema de Office</vt:lpstr>
      <vt:lpstr>2_Tema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APRENDIZ</dc:creator>
  <cp:lastModifiedBy>Michael Andres Guzman Perez</cp:lastModifiedBy>
  <cp:revision>10</cp:revision>
  <dcterms:modified xsi:type="dcterms:W3CDTF">2026-05-25T14:18:03Z</dcterms:modified>
</cp:coreProperties>
</file>